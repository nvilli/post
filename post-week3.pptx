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74"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551"/>
  </p:normalViewPr>
  <p:slideViewPr>
    <p:cSldViewPr snapToGrid="0" snapToObjects="1">
      <p:cViewPr varScale="1">
        <p:scale>
          <a:sx n="111" d="100"/>
          <a:sy n="111" d="100"/>
        </p:scale>
        <p:origin x="63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02BBE4-D67D-F64F-BCC4-9B8E0FC963C2}"/>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4124BAFA-802E-F649-9C8B-908A744994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C78994C2-B3B4-DD42-AE95-DE28F269C7DA}"/>
              </a:ext>
            </a:extLst>
          </p:cNvPr>
          <p:cNvSpPr>
            <a:spLocks noGrp="1"/>
          </p:cNvSpPr>
          <p:nvPr>
            <p:ph type="dt" sz="half" idx="10"/>
          </p:nvPr>
        </p:nvSpPr>
        <p:spPr/>
        <p:txBody>
          <a:bodyPr/>
          <a:lstStyle/>
          <a:p>
            <a:fld id="{11D9B450-25E4-0E4F-BD7F-12A9A8D16BEC}" type="datetimeFigureOut">
              <a:rPr kumimoji="1" lang="zh-TW" altLang="en-US" smtClean="0"/>
              <a:t>2020/8/1</a:t>
            </a:fld>
            <a:endParaRPr kumimoji="1" lang="zh-TW" altLang="en-US"/>
          </a:p>
        </p:txBody>
      </p:sp>
      <p:sp>
        <p:nvSpPr>
          <p:cNvPr id="5" name="頁尾版面配置區 4">
            <a:extLst>
              <a:ext uri="{FF2B5EF4-FFF2-40B4-BE49-F238E27FC236}">
                <a16:creationId xmlns:a16="http://schemas.microsoft.com/office/drawing/2014/main" id="{26FE3647-58E8-2B4F-A867-CFE22150076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BF8ADB-E65E-934B-B17F-8EB3CF503958}"/>
              </a:ext>
            </a:extLst>
          </p:cNvPr>
          <p:cNvSpPr>
            <a:spLocks noGrp="1"/>
          </p:cNvSpPr>
          <p:nvPr>
            <p:ph type="sldNum" sz="quarter" idx="12"/>
          </p:nvPr>
        </p:nvSpPr>
        <p:spPr/>
        <p:txBody>
          <a:bodyPr/>
          <a:lstStyle/>
          <a:p>
            <a:fld id="{2D5B135A-A370-6D42-93A5-6148C9595B8A}" type="slidenum">
              <a:rPr kumimoji="1" lang="zh-TW" altLang="en-US" smtClean="0"/>
              <a:t>‹#›</a:t>
            </a:fld>
            <a:endParaRPr kumimoji="1" lang="zh-TW" altLang="en-US"/>
          </a:p>
        </p:txBody>
      </p:sp>
    </p:spTree>
    <p:extLst>
      <p:ext uri="{BB962C8B-B14F-4D97-AF65-F5344CB8AC3E}">
        <p14:creationId xmlns:p14="http://schemas.microsoft.com/office/powerpoint/2010/main" val="2816816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80B5D6-B5FB-A74F-B7AE-4276C44B16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301A9E01-AE8D-1D4B-A3D3-7FF83CD520D0}"/>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7111473-A244-C545-8A29-947C7D73CBC5}"/>
              </a:ext>
            </a:extLst>
          </p:cNvPr>
          <p:cNvSpPr>
            <a:spLocks noGrp="1"/>
          </p:cNvSpPr>
          <p:nvPr>
            <p:ph type="dt" sz="half" idx="10"/>
          </p:nvPr>
        </p:nvSpPr>
        <p:spPr/>
        <p:txBody>
          <a:bodyPr/>
          <a:lstStyle/>
          <a:p>
            <a:fld id="{11D9B450-25E4-0E4F-BD7F-12A9A8D16BEC}" type="datetimeFigureOut">
              <a:rPr kumimoji="1" lang="zh-TW" altLang="en-US" smtClean="0"/>
              <a:t>2020/8/1</a:t>
            </a:fld>
            <a:endParaRPr kumimoji="1" lang="zh-TW" altLang="en-US"/>
          </a:p>
        </p:txBody>
      </p:sp>
      <p:sp>
        <p:nvSpPr>
          <p:cNvPr id="5" name="頁尾版面配置區 4">
            <a:extLst>
              <a:ext uri="{FF2B5EF4-FFF2-40B4-BE49-F238E27FC236}">
                <a16:creationId xmlns:a16="http://schemas.microsoft.com/office/drawing/2014/main" id="{2F5F9FFC-D48F-9D46-A8D9-FB3868BBB8D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3A62AA3E-A52C-5744-AB09-265FD22026C5}"/>
              </a:ext>
            </a:extLst>
          </p:cNvPr>
          <p:cNvSpPr>
            <a:spLocks noGrp="1"/>
          </p:cNvSpPr>
          <p:nvPr>
            <p:ph type="sldNum" sz="quarter" idx="12"/>
          </p:nvPr>
        </p:nvSpPr>
        <p:spPr/>
        <p:txBody>
          <a:bodyPr/>
          <a:lstStyle/>
          <a:p>
            <a:fld id="{2D5B135A-A370-6D42-93A5-6148C9595B8A}" type="slidenum">
              <a:rPr kumimoji="1" lang="zh-TW" altLang="en-US" smtClean="0"/>
              <a:t>‹#›</a:t>
            </a:fld>
            <a:endParaRPr kumimoji="1" lang="zh-TW" altLang="en-US"/>
          </a:p>
        </p:txBody>
      </p:sp>
    </p:spTree>
    <p:extLst>
      <p:ext uri="{BB962C8B-B14F-4D97-AF65-F5344CB8AC3E}">
        <p14:creationId xmlns:p14="http://schemas.microsoft.com/office/powerpoint/2010/main" val="3053125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CD5889-B396-3D45-B91C-79B85479DE5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3F8BD41-85C4-E142-9C25-FF7EFF554A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A6FC16F9-9F80-794F-9531-ED49EAE33C4F}"/>
              </a:ext>
            </a:extLst>
          </p:cNvPr>
          <p:cNvSpPr>
            <a:spLocks noGrp="1"/>
          </p:cNvSpPr>
          <p:nvPr>
            <p:ph type="dt" sz="half" idx="10"/>
          </p:nvPr>
        </p:nvSpPr>
        <p:spPr/>
        <p:txBody>
          <a:bodyPr/>
          <a:lstStyle/>
          <a:p>
            <a:fld id="{11D9B450-25E4-0E4F-BD7F-12A9A8D16BEC}" type="datetimeFigureOut">
              <a:rPr kumimoji="1" lang="zh-TW" altLang="en-US" smtClean="0"/>
              <a:t>2020/8/1</a:t>
            </a:fld>
            <a:endParaRPr kumimoji="1" lang="zh-TW" altLang="en-US"/>
          </a:p>
        </p:txBody>
      </p:sp>
      <p:sp>
        <p:nvSpPr>
          <p:cNvPr id="5" name="頁尾版面配置區 4">
            <a:extLst>
              <a:ext uri="{FF2B5EF4-FFF2-40B4-BE49-F238E27FC236}">
                <a16:creationId xmlns:a16="http://schemas.microsoft.com/office/drawing/2014/main" id="{C6D2B388-6313-AF4D-A1E9-42EC542FC53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D751E89D-A43A-074B-8C6C-3A176F933917}"/>
              </a:ext>
            </a:extLst>
          </p:cNvPr>
          <p:cNvSpPr>
            <a:spLocks noGrp="1"/>
          </p:cNvSpPr>
          <p:nvPr>
            <p:ph type="sldNum" sz="quarter" idx="12"/>
          </p:nvPr>
        </p:nvSpPr>
        <p:spPr/>
        <p:txBody>
          <a:bodyPr/>
          <a:lstStyle/>
          <a:p>
            <a:fld id="{2D5B135A-A370-6D42-93A5-6148C9595B8A}" type="slidenum">
              <a:rPr kumimoji="1" lang="zh-TW" altLang="en-US" smtClean="0"/>
              <a:t>‹#›</a:t>
            </a:fld>
            <a:endParaRPr kumimoji="1" lang="zh-TW" altLang="en-US"/>
          </a:p>
        </p:txBody>
      </p:sp>
    </p:spTree>
    <p:extLst>
      <p:ext uri="{BB962C8B-B14F-4D97-AF65-F5344CB8AC3E}">
        <p14:creationId xmlns:p14="http://schemas.microsoft.com/office/powerpoint/2010/main" val="1683061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3210DB-D4B9-8A46-838A-AEDA09A01902}"/>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C50EF91-34A6-5346-89A2-9A27EB8DC274}"/>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E8015796-188E-E849-97ED-DDF14A577387}"/>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9BF78A7F-2858-7344-9030-FAC229F7C7FF}"/>
              </a:ext>
            </a:extLst>
          </p:cNvPr>
          <p:cNvSpPr>
            <a:spLocks noGrp="1"/>
          </p:cNvSpPr>
          <p:nvPr>
            <p:ph type="dt" sz="half" idx="10"/>
          </p:nvPr>
        </p:nvSpPr>
        <p:spPr/>
        <p:txBody>
          <a:bodyPr/>
          <a:lstStyle/>
          <a:p>
            <a:fld id="{11D9B450-25E4-0E4F-BD7F-12A9A8D16BEC}" type="datetimeFigureOut">
              <a:rPr kumimoji="1" lang="zh-TW" altLang="en-US" smtClean="0"/>
              <a:t>2020/8/1</a:t>
            </a:fld>
            <a:endParaRPr kumimoji="1" lang="zh-TW" altLang="en-US"/>
          </a:p>
        </p:txBody>
      </p:sp>
      <p:sp>
        <p:nvSpPr>
          <p:cNvPr id="6" name="頁尾版面配置區 5">
            <a:extLst>
              <a:ext uri="{FF2B5EF4-FFF2-40B4-BE49-F238E27FC236}">
                <a16:creationId xmlns:a16="http://schemas.microsoft.com/office/drawing/2014/main" id="{C5891B1B-76DE-D54C-A74F-2379919D7A93}"/>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D9391172-D930-A14A-ADCF-08C5C90D7F85}"/>
              </a:ext>
            </a:extLst>
          </p:cNvPr>
          <p:cNvSpPr>
            <a:spLocks noGrp="1"/>
          </p:cNvSpPr>
          <p:nvPr>
            <p:ph type="sldNum" sz="quarter" idx="12"/>
          </p:nvPr>
        </p:nvSpPr>
        <p:spPr/>
        <p:txBody>
          <a:bodyPr/>
          <a:lstStyle/>
          <a:p>
            <a:fld id="{2D5B135A-A370-6D42-93A5-6148C9595B8A}" type="slidenum">
              <a:rPr kumimoji="1" lang="zh-TW" altLang="en-US" smtClean="0"/>
              <a:t>‹#›</a:t>
            </a:fld>
            <a:endParaRPr kumimoji="1" lang="zh-TW" altLang="en-US"/>
          </a:p>
        </p:txBody>
      </p:sp>
    </p:spTree>
    <p:extLst>
      <p:ext uri="{BB962C8B-B14F-4D97-AF65-F5344CB8AC3E}">
        <p14:creationId xmlns:p14="http://schemas.microsoft.com/office/powerpoint/2010/main" val="2132241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0F224C-7751-824C-AEC8-A978424A3A94}"/>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267F47C-C2D9-264B-A214-BB7358282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B82C8982-D267-5648-A53A-AF0BAB8A9D14}"/>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79211AA9-9F18-E544-975E-D89991DBA2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F4213A4-B03E-B140-8E02-AF0C84A5089B}"/>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D0DEDECD-8DD6-E340-9D3D-EB021BF127B4}"/>
              </a:ext>
            </a:extLst>
          </p:cNvPr>
          <p:cNvSpPr>
            <a:spLocks noGrp="1"/>
          </p:cNvSpPr>
          <p:nvPr>
            <p:ph type="dt" sz="half" idx="10"/>
          </p:nvPr>
        </p:nvSpPr>
        <p:spPr/>
        <p:txBody>
          <a:bodyPr/>
          <a:lstStyle/>
          <a:p>
            <a:fld id="{11D9B450-25E4-0E4F-BD7F-12A9A8D16BEC}" type="datetimeFigureOut">
              <a:rPr kumimoji="1" lang="zh-TW" altLang="en-US" smtClean="0"/>
              <a:t>2020/8/1</a:t>
            </a:fld>
            <a:endParaRPr kumimoji="1" lang="zh-TW" altLang="en-US"/>
          </a:p>
        </p:txBody>
      </p:sp>
      <p:sp>
        <p:nvSpPr>
          <p:cNvPr id="8" name="頁尾版面配置區 7">
            <a:extLst>
              <a:ext uri="{FF2B5EF4-FFF2-40B4-BE49-F238E27FC236}">
                <a16:creationId xmlns:a16="http://schemas.microsoft.com/office/drawing/2014/main" id="{1BC4838F-2BEF-7448-9873-03F0B9EBEF35}"/>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A614D337-AD94-C545-B353-7CEAD80563D0}"/>
              </a:ext>
            </a:extLst>
          </p:cNvPr>
          <p:cNvSpPr>
            <a:spLocks noGrp="1"/>
          </p:cNvSpPr>
          <p:nvPr>
            <p:ph type="sldNum" sz="quarter" idx="12"/>
          </p:nvPr>
        </p:nvSpPr>
        <p:spPr/>
        <p:txBody>
          <a:bodyPr/>
          <a:lstStyle/>
          <a:p>
            <a:fld id="{2D5B135A-A370-6D42-93A5-6148C9595B8A}" type="slidenum">
              <a:rPr kumimoji="1" lang="zh-TW" altLang="en-US" smtClean="0"/>
              <a:t>‹#›</a:t>
            </a:fld>
            <a:endParaRPr kumimoji="1" lang="zh-TW" altLang="en-US"/>
          </a:p>
        </p:txBody>
      </p:sp>
    </p:spTree>
    <p:extLst>
      <p:ext uri="{BB962C8B-B14F-4D97-AF65-F5344CB8AC3E}">
        <p14:creationId xmlns:p14="http://schemas.microsoft.com/office/powerpoint/2010/main" val="2986744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D33D5F-85E9-ED4A-8E2F-E9A35614ABC6}"/>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219A9712-3254-EC49-9589-D7BEFC2E966E}"/>
              </a:ext>
            </a:extLst>
          </p:cNvPr>
          <p:cNvSpPr>
            <a:spLocks noGrp="1"/>
          </p:cNvSpPr>
          <p:nvPr>
            <p:ph type="dt" sz="half" idx="10"/>
          </p:nvPr>
        </p:nvSpPr>
        <p:spPr/>
        <p:txBody>
          <a:bodyPr/>
          <a:lstStyle/>
          <a:p>
            <a:fld id="{11D9B450-25E4-0E4F-BD7F-12A9A8D16BEC}" type="datetimeFigureOut">
              <a:rPr kumimoji="1" lang="zh-TW" altLang="en-US" smtClean="0"/>
              <a:t>2020/8/1</a:t>
            </a:fld>
            <a:endParaRPr kumimoji="1" lang="zh-TW" altLang="en-US"/>
          </a:p>
        </p:txBody>
      </p:sp>
      <p:sp>
        <p:nvSpPr>
          <p:cNvPr id="4" name="頁尾版面配置區 3">
            <a:extLst>
              <a:ext uri="{FF2B5EF4-FFF2-40B4-BE49-F238E27FC236}">
                <a16:creationId xmlns:a16="http://schemas.microsoft.com/office/drawing/2014/main" id="{AEE94EA3-6020-0947-A90E-FC91C96A1A41}"/>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19BF1D32-09F8-E44A-ABF4-2BD92069C269}"/>
              </a:ext>
            </a:extLst>
          </p:cNvPr>
          <p:cNvSpPr>
            <a:spLocks noGrp="1"/>
          </p:cNvSpPr>
          <p:nvPr>
            <p:ph type="sldNum" sz="quarter" idx="12"/>
          </p:nvPr>
        </p:nvSpPr>
        <p:spPr/>
        <p:txBody>
          <a:bodyPr/>
          <a:lstStyle/>
          <a:p>
            <a:fld id="{2D5B135A-A370-6D42-93A5-6148C9595B8A}" type="slidenum">
              <a:rPr kumimoji="1" lang="zh-TW" altLang="en-US" smtClean="0"/>
              <a:t>‹#›</a:t>
            </a:fld>
            <a:endParaRPr kumimoji="1" lang="zh-TW" altLang="en-US"/>
          </a:p>
        </p:txBody>
      </p:sp>
    </p:spTree>
    <p:extLst>
      <p:ext uri="{BB962C8B-B14F-4D97-AF65-F5344CB8AC3E}">
        <p14:creationId xmlns:p14="http://schemas.microsoft.com/office/powerpoint/2010/main" val="3467134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BFEB3E1-1CDC-3844-8D70-DE4F855E4721}"/>
              </a:ext>
            </a:extLst>
          </p:cNvPr>
          <p:cNvSpPr>
            <a:spLocks noGrp="1"/>
          </p:cNvSpPr>
          <p:nvPr>
            <p:ph type="dt" sz="half" idx="10"/>
          </p:nvPr>
        </p:nvSpPr>
        <p:spPr/>
        <p:txBody>
          <a:bodyPr/>
          <a:lstStyle/>
          <a:p>
            <a:fld id="{11D9B450-25E4-0E4F-BD7F-12A9A8D16BEC}" type="datetimeFigureOut">
              <a:rPr kumimoji="1" lang="zh-TW" altLang="en-US" smtClean="0"/>
              <a:t>2020/8/1</a:t>
            </a:fld>
            <a:endParaRPr kumimoji="1" lang="zh-TW" altLang="en-US"/>
          </a:p>
        </p:txBody>
      </p:sp>
      <p:sp>
        <p:nvSpPr>
          <p:cNvPr id="3" name="頁尾版面配置區 2">
            <a:extLst>
              <a:ext uri="{FF2B5EF4-FFF2-40B4-BE49-F238E27FC236}">
                <a16:creationId xmlns:a16="http://schemas.microsoft.com/office/drawing/2014/main" id="{485C0CA3-4F1E-3F4E-AA36-B9EF31978602}"/>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8E3868B-376E-A849-987B-581EC956542E}"/>
              </a:ext>
            </a:extLst>
          </p:cNvPr>
          <p:cNvSpPr>
            <a:spLocks noGrp="1"/>
          </p:cNvSpPr>
          <p:nvPr>
            <p:ph type="sldNum" sz="quarter" idx="12"/>
          </p:nvPr>
        </p:nvSpPr>
        <p:spPr/>
        <p:txBody>
          <a:bodyPr/>
          <a:lstStyle/>
          <a:p>
            <a:fld id="{2D5B135A-A370-6D42-93A5-6148C9595B8A}" type="slidenum">
              <a:rPr kumimoji="1" lang="zh-TW" altLang="en-US" smtClean="0"/>
              <a:t>‹#›</a:t>
            </a:fld>
            <a:endParaRPr kumimoji="1" lang="zh-TW" altLang="en-US"/>
          </a:p>
        </p:txBody>
      </p:sp>
    </p:spTree>
    <p:extLst>
      <p:ext uri="{BB962C8B-B14F-4D97-AF65-F5344CB8AC3E}">
        <p14:creationId xmlns:p14="http://schemas.microsoft.com/office/powerpoint/2010/main" val="2296843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0DC8F3-E74E-7E41-84EC-EE4F5C05E7C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7FD56DE-114E-A143-8E1B-B356A28E8F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C9BAE629-0AA3-0349-A2CC-B70D5B2037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02AD2618-F341-A64F-BF3B-D4E078ADE8EF}"/>
              </a:ext>
            </a:extLst>
          </p:cNvPr>
          <p:cNvSpPr>
            <a:spLocks noGrp="1"/>
          </p:cNvSpPr>
          <p:nvPr>
            <p:ph type="dt" sz="half" idx="10"/>
          </p:nvPr>
        </p:nvSpPr>
        <p:spPr/>
        <p:txBody>
          <a:bodyPr/>
          <a:lstStyle/>
          <a:p>
            <a:fld id="{11D9B450-25E4-0E4F-BD7F-12A9A8D16BEC}" type="datetimeFigureOut">
              <a:rPr kumimoji="1" lang="zh-TW" altLang="en-US" smtClean="0"/>
              <a:t>2020/8/1</a:t>
            </a:fld>
            <a:endParaRPr kumimoji="1" lang="zh-TW" altLang="en-US"/>
          </a:p>
        </p:txBody>
      </p:sp>
      <p:sp>
        <p:nvSpPr>
          <p:cNvPr id="6" name="頁尾版面配置區 5">
            <a:extLst>
              <a:ext uri="{FF2B5EF4-FFF2-40B4-BE49-F238E27FC236}">
                <a16:creationId xmlns:a16="http://schemas.microsoft.com/office/drawing/2014/main" id="{0B6B0B92-96EB-3B4B-98B4-1CB425178D29}"/>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C9B1F0AE-264A-0647-93C8-74205D74B164}"/>
              </a:ext>
            </a:extLst>
          </p:cNvPr>
          <p:cNvSpPr>
            <a:spLocks noGrp="1"/>
          </p:cNvSpPr>
          <p:nvPr>
            <p:ph type="sldNum" sz="quarter" idx="12"/>
          </p:nvPr>
        </p:nvSpPr>
        <p:spPr/>
        <p:txBody>
          <a:bodyPr/>
          <a:lstStyle/>
          <a:p>
            <a:fld id="{2D5B135A-A370-6D42-93A5-6148C9595B8A}" type="slidenum">
              <a:rPr kumimoji="1" lang="zh-TW" altLang="en-US" smtClean="0"/>
              <a:t>‹#›</a:t>
            </a:fld>
            <a:endParaRPr kumimoji="1" lang="zh-TW" altLang="en-US"/>
          </a:p>
        </p:txBody>
      </p:sp>
    </p:spTree>
    <p:extLst>
      <p:ext uri="{BB962C8B-B14F-4D97-AF65-F5344CB8AC3E}">
        <p14:creationId xmlns:p14="http://schemas.microsoft.com/office/powerpoint/2010/main" val="1041828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B7CB38-2B4A-8D49-9BB3-7FDC4261255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C53B2006-BD4C-9E44-8C68-52838B56ED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564C5394-BF23-DC4C-9AC2-A1251785D3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45FE0F2B-4CFC-9145-A19B-C4D58645A2D6}"/>
              </a:ext>
            </a:extLst>
          </p:cNvPr>
          <p:cNvSpPr>
            <a:spLocks noGrp="1"/>
          </p:cNvSpPr>
          <p:nvPr>
            <p:ph type="dt" sz="half" idx="10"/>
          </p:nvPr>
        </p:nvSpPr>
        <p:spPr/>
        <p:txBody>
          <a:bodyPr/>
          <a:lstStyle/>
          <a:p>
            <a:fld id="{11D9B450-25E4-0E4F-BD7F-12A9A8D16BEC}" type="datetimeFigureOut">
              <a:rPr kumimoji="1" lang="zh-TW" altLang="en-US" smtClean="0"/>
              <a:t>2020/8/1</a:t>
            </a:fld>
            <a:endParaRPr kumimoji="1" lang="zh-TW" altLang="en-US"/>
          </a:p>
        </p:txBody>
      </p:sp>
      <p:sp>
        <p:nvSpPr>
          <p:cNvPr id="6" name="頁尾版面配置區 5">
            <a:extLst>
              <a:ext uri="{FF2B5EF4-FFF2-40B4-BE49-F238E27FC236}">
                <a16:creationId xmlns:a16="http://schemas.microsoft.com/office/drawing/2014/main" id="{695626D4-CCE2-6340-BA6E-8900B85C7F0A}"/>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7DF19A0-5E47-B448-B6B6-810398C81109}"/>
              </a:ext>
            </a:extLst>
          </p:cNvPr>
          <p:cNvSpPr>
            <a:spLocks noGrp="1"/>
          </p:cNvSpPr>
          <p:nvPr>
            <p:ph type="sldNum" sz="quarter" idx="12"/>
          </p:nvPr>
        </p:nvSpPr>
        <p:spPr/>
        <p:txBody>
          <a:bodyPr/>
          <a:lstStyle/>
          <a:p>
            <a:fld id="{2D5B135A-A370-6D42-93A5-6148C9595B8A}" type="slidenum">
              <a:rPr kumimoji="1" lang="zh-TW" altLang="en-US" smtClean="0"/>
              <a:t>‹#›</a:t>
            </a:fld>
            <a:endParaRPr kumimoji="1" lang="zh-TW" altLang="en-US"/>
          </a:p>
        </p:txBody>
      </p:sp>
    </p:spTree>
    <p:extLst>
      <p:ext uri="{BB962C8B-B14F-4D97-AF65-F5344CB8AC3E}">
        <p14:creationId xmlns:p14="http://schemas.microsoft.com/office/powerpoint/2010/main" val="1416211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E5FA93-4CF1-2941-9B0C-566787E756EE}"/>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33557D38-8C5A-AD48-BAFA-42F74566DD9D}"/>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8C9D0DB-8566-584C-BE7A-9EEF8057209D}"/>
              </a:ext>
            </a:extLst>
          </p:cNvPr>
          <p:cNvSpPr>
            <a:spLocks noGrp="1"/>
          </p:cNvSpPr>
          <p:nvPr>
            <p:ph type="dt" sz="half" idx="10"/>
          </p:nvPr>
        </p:nvSpPr>
        <p:spPr/>
        <p:txBody>
          <a:bodyPr/>
          <a:lstStyle/>
          <a:p>
            <a:fld id="{11D9B450-25E4-0E4F-BD7F-12A9A8D16BEC}" type="datetimeFigureOut">
              <a:rPr kumimoji="1" lang="zh-TW" altLang="en-US" smtClean="0"/>
              <a:t>2020/8/1</a:t>
            </a:fld>
            <a:endParaRPr kumimoji="1" lang="zh-TW" altLang="en-US"/>
          </a:p>
        </p:txBody>
      </p:sp>
      <p:sp>
        <p:nvSpPr>
          <p:cNvPr id="5" name="頁尾版面配置區 4">
            <a:extLst>
              <a:ext uri="{FF2B5EF4-FFF2-40B4-BE49-F238E27FC236}">
                <a16:creationId xmlns:a16="http://schemas.microsoft.com/office/drawing/2014/main" id="{3DAF6F59-4495-FB42-B3E4-F14AA819B07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36BA48C8-37B4-4646-B3C9-42AEEF48DD02}"/>
              </a:ext>
            </a:extLst>
          </p:cNvPr>
          <p:cNvSpPr>
            <a:spLocks noGrp="1"/>
          </p:cNvSpPr>
          <p:nvPr>
            <p:ph type="sldNum" sz="quarter" idx="12"/>
          </p:nvPr>
        </p:nvSpPr>
        <p:spPr/>
        <p:txBody>
          <a:bodyPr/>
          <a:lstStyle/>
          <a:p>
            <a:fld id="{2D5B135A-A370-6D42-93A5-6148C9595B8A}" type="slidenum">
              <a:rPr kumimoji="1" lang="zh-TW" altLang="en-US" smtClean="0"/>
              <a:t>‹#›</a:t>
            </a:fld>
            <a:endParaRPr kumimoji="1" lang="zh-TW" altLang="en-US"/>
          </a:p>
        </p:txBody>
      </p:sp>
    </p:spTree>
    <p:extLst>
      <p:ext uri="{BB962C8B-B14F-4D97-AF65-F5344CB8AC3E}">
        <p14:creationId xmlns:p14="http://schemas.microsoft.com/office/powerpoint/2010/main" val="2053336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277D053-60AC-2846-98EA-3F7EE1CD34E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794808A9-DC98-404F-B1C4-41D0003E6BA2}"/>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CF0C1C5-49AB-D746-9FEA-612771BC7AE8}"/>
              </a:ext>
            </a:extLst>
          </p:cNvPr>
          <p:cNvSpPr>
            <a:spLocks noGrp="1"/>
          </p:cNvSpPr>
          <p:nvPr>
            <p:ph type="dt" sz="half" idx="10"/>
          </p:nvPr>
        </p:nvSpPr>
        <p:spPr/>
        <p:txBody>
          <a:bodyPr/>
          <a:lstStyle/>
          <a:p>
            <a:fld id="{11D9B450-25E4-0E4F-BD7F-12A9A8D16BEC}" type="datetimeFigureOut">
              <a:rPr kumimoji="1" lang="zh-TW" altLang="en-US" smtClean="0"/>
              <a:t>2020/8/1</a:t>
            </a:fld>
            <a:endParaRPr kumimoji="1" lang="zh-TW" altLang="en-US"/>
          </a:p>
        </p:txBody>
      </p:sp>
      <p:sp>
        <p:nvSpPr>
          <p:cNvPr id="5" name="頁尾版面配置區 4">
            <a:extLst>
              <a:ext uri="{FF2B5EF4-FFF2-40B4-BE49-F238E27FC236}">
                <a16:creationId xmlns:a16="http://schemas.microsoft.com/office/drawing/2014/main" id="{9B767125-50CB-9F4A-9F64-B68E1961B61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9EF8548-9B1A-5B4F-A936-6C978786C050}"/>
              </a:ext>
            </a:extLst>
          </p:cNvPr>
          <p:cNvSpPr>
            <a:spLocks noGrp="1"/>
          </p:cNvSpPr>
          <p:nvPr>
            <p:ph type="sldNum" sz="quarter" idx="12"/>
          </p:nvPr>
        </p:nvSpPr>
        <p:spPr/>
        <p:txBody>
          <a:bodyPr/>
          <a:lstStyle/>
          <a:p>
            <a:fld id="{2D5B135A-A370-6D42-93A5-6148C9595B8A}" type="slidenum">
              <a:rPr kumimoji="1" lang="zh-TW" altLang="en-US" smtClean="0"/>
              <a:t>‹#›</a:t>
            </a:fld>
            <a:endParaRPr kumimoji="1" lang="zh-TW" altLang="en-US"/>
          </a:p>
        </p:txBody>
      </p:sp>
    </p:spTree>
    <p:extLst>
      <p:ext uri="{BB962C8B-B14F-4D97-AF65-F5344CB8AC3E}">
        <p14:creationId xmlns:p14="http://schemas.microsoft.com/office/powerpoint/2010/main" val="443035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BBA72A6-3AF6-2648-A188-DDA8D001BB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BA16DA9-1CE1-2743-9A1F-C973BD1E45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5D584B9-BFDA-044D-83DA-F9448A09D6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D9B450-25E4-0E4F-BD7F-12A9A8D16BEC}" type="datetimeFigureOut">
              <a:rPr kumimoji="1" lang="zh-TW" altLang="en-US" smtClean="0"/>
              <a:t>2020/8/1</a:t>
            </a:fld>
            <a:endParaRPr kumimoji="1" lang="zh-TW" altLang="en-US"/>
          </a:p>
        </p:txBody>
      </p:sp>
      <p:sp>
        <p:nvSpPr>
          <p:cNvPr id="5" name="頁尾版面配置區 4">
            <a:extLst>
              <a:ext uri="{FF2B5EF4-FFF2-40B4-BE49-F238E27FC236}">
                <a16:creationId xmlns:a16="http://schemas.microsoft.com/office/drawing/2014/main" id="{7941AA62-3FB0-B645-B662-5DC8F25B0A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8CA1EF23-4CF6-1745-89F6-16B850F342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5B135A-A370-6D42-93A5-6148C9595B8A}" type="slidenum">
              <a:rPr kumimoji="1" lang="zh-TW" altLang="en-US" smtClean="0"/>
              <a:t>‹#›</a:t>
            </a:fld>
            <a:endParaRPr kumimoji="1" lang="zh-TW" altLang="en-US"/>
          </a:p>
        </p:txBody>
      </p:sp>
    </p:spTree>
    <p:extLst>
      <p:ext uri="{BB962C8B-B14F-4D97-AF65-F5344CB8AC3E}">
        <p14:creationId xmlns:p14="http://schemas.microsoft.com/office/powerpoint/2010/main" val="17551406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93D7C92-71EC-BD46-8FE9-65ECDF5E6C19}"/>
              </a:ext>
            </a:extLst>
          </p:cNvPr>
          <p:cNvSpPr/>
          <p:nvPr/>
        </p:nvSpPr>
        <p:spPr>
          <a:xfrm>
            <a:off x="0" y="0"/>
            <a:ext cx="12192000" cy="6247864"/>
          </a:xfrm>
          <a:prstGeom prst="rect">
            <a:avLst/>
          </a:prstGeom>
        </p:spPr>
        <p:txBody>
          <a:bodyPr wrap="square">
            <a:spAutoFit/>
          </a:bodyPr>
          <a:lstStyle/>
          <a:p>
            <a:r>
              <a:rPr lang="en-US" altLang="zh-TW" sz="4000" b="0" i="0" u="none" strike="noStrike" dirty="0">
                <a:solidFill>
                  <a:srgbClr val="333333"/>
                </a:solidFill>
                <a:effectLst/>
                <a:latin typeface="Open Sans"/>
              </a:rPr>
              <a:t>Adversarial self-supervised learning for semi-supervised 3D action recognition(ECCV 2020)</a:t>
            </a:r>
          </a:p>
          <a:p>
            <a:endParaRPr lang="en-US" altLang="zh-TW" sz="4000" b="0" i="0" u="none" strike="noStrike" dirty="0">
              <a:solidFill>
                <a:srgbClr val="333333"/>
              </a:solidFill>
              <a:effectLst/>
              <a:latin typeface="Open Sans"/>
            </a:endParaRPr>
          </a:p>
          <a:p>
            <a:endParaRPr lang="en-US" altLang="zh-TW" sz="4000" b="0" i="0" u="none" strike="noStrike" dirty="0">
              <a:solidFill>
                <a:srgbClr val="333333"/>
              </a:solidFill>
              <a:effectLst/>
              <a:latin typeface="Open Sans"/>
            </a:endParaRPr>
          </a:p>
          <a:p>
            <a:r>
              <a:rPr lang="en-US" altLang="zh-TW" sz="4000" b="0" i="0" u="none" strike="noStrike" dirty="0">
                <a:solidFill>
                  <a:srgbClr val="333333"/>
                </a:solidFill>
                <a:effectLst/>
                <a:latin typeface="Open Sans"/>
              </a:rPr>
              <a:t>From Image Collections to Point Clouds with Self-supervised Shape and Pose Networks(CVPR 2020)</a:t>
            </a:r>
          </a:p>
          <a:p>
            <a:endParaRPr lang="en-US" altLang="zh-TW" sz="4000" dirty="0">
              <a:solidFill>
                <a:srgbClr val="333333"/>
              </a:solidFill>
              <a:latin typeface="Open Sans"/>
            </a:endParaRPr>
          </a:p>
          <a:p>
            <a:endParaRPr lang="en-US" altLang="zh-TW" sz="4000" b="0" i="0" u="none" strike="noStrike" dirty="0">
              <a:solidFill>
                <a:srgbClr val="333333"/>
              </a:solidFill>
              <a:effectLst/>
              <a:latin typeface="Open Sans"/>
            </a:endParaRPr>
          </a:p>
          <a:p>
            <a:r>
              <a:rPr lang="en-US" altLang="zh-TW" sz="4000" b="0" i="0" u="none" strike="noStrike" dirty="0">
                <a:solidFill>
                  <a:srgbClr val="333333"/>
                </a:solidFill>
                <a:effectLst/>
                <a:latin typeface="Open Sans"/>
              </a:rPr>
              <a:t>Self-Supervised Learning of Video-Induced Visual Invariances(CVPR 2020)</a:t>
            </a:r>
          </a:p>
        </p:txBody>
      </p:sp>
    </p:spTree>
    <p:extLst>
      <p:ext uri="{BB962C8B-B14F-4D97-AF65-F5344CB8AC3E}">
        <p14:creationId xmlns:p14="http://schemas.microsoft.com/office/powerpoint/2010/main" val="1267315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362BEE-0A41-D54B-BAD5-6FC36DE21FA2}"/>
              </a:ext>
            </a:extLst>
          </p:cNvPr>
          <p:cNvSpPr>
            <a:spLocks noGrp="1"/>
          </p:cNvSpPr>
          <p:nvPr>
            <p:ph type="title"/>
          </p:nvPr>
        </p:nvSpPr>
        <p:spPr>
          <a:xfrm>
            <a:off x="0" y="1"/>
            <a:ext cx="12192000" cy="1690688"/>
          </a:xfrm>
        </p:spPr>
        <p:txBody>
          <a:bodyPr/>
          <a:lstStyle/>
          <a:p>
            <a:r>
              <a:rPr lang="en-US" altLang="zh-TW" dirty="0"/>
              <a:t>Adversarial self-supervised learning for semi</a:t>
            </a:r>
            <a:r>
              <a:rPr lang="en-US" altLang="zh-CN" dirty="0"/>
              <a:t>-</a:t>
            </a:r>
            <a:r>
              <a:rPr lang="en-US" altLang="zh-TW" dirty="0"/>
              <a:t>supervised 3D action recognition</a:t>
            </a:r>
            <a:endParaRPr kumimoji="1" lang="zh-TW" altLang="en-US" dirty="0"/>
          </a:p>
        </p:txBody>
      </p:sp>
      <p:sp>
        <p:nvSpPr>
          <p:cNvPr id="3" name="內容版面配置區 2">
            <a:extLst>
              <a:ext uri="{FF2B5EF4-FFF2-40B4-BE49-F238E27FC236}">
                <a16:creationId xmlns:a16="http://schemas.microsoft.com/office/drawing/2014/main" id="{872B8E4B-F066-6E48-99A7-920B6B246636}"/>
              </a:ext>
            </a:extLst>
          </p:cNvPr>
          <p:cNvSpPr>
            <a:spLocks noGrp="1"/>
          </p:cNvSpPr>
          <p:nvPr>
            <p:ph idx="1"/>
          </p:nvPr>
        </p:nvSpPr>
        <p:spPr>
          <a:xfrm>
            <a:off x="-1" y="1825625"/>
            <a:ext cx="12191999" cy="1947722"/>
          </a:xfrm>
        </p:spPr>
        <p:txBody>
          <a:bodyPr>
            <a:normAutofit lnSpcReduction="10000"/>
          </a:bodyPr>
          <a:lstStyle/>
          <a:p>
            <a:pPr marL="0" indent="0">
              <a:buNone/>
            </a:pPr>
            <a:r>
              <a:rPr kumimoji="1" lang="en-US" altLang="zh-TW" dirty="0"/>
              <a:t>Problems:</a:t>
            </a:r>
            <a:endParaRPr kumimoji="1" lang="en-US" altLang="zh-CN" dirty="0"/>
          </a:p>
          <a:p>
            <a:pPr marL="457200" lvl="1" indent="0">
              <a:buNone/>
            </a:pPr>
            <a:r>
              <a:rPr lang="en-US" altLang="zh-TW" dirty="0"/>
              <a:t>previous methods heavily rely on the available manual annotations that are costly to acquire </a:t>
            </a:r>
          </a:p>
          <a:p>
            <a:pPr marL="457200" lvl="1" indent="0">
              <a:buNone/>
            </a:pPr>
            <a:endParaRPr lang="en-US" altLang="zh-TW" dirty="0"/>
          </a:p>
          <a:p>
            <a:pPr marL="457200" lvl="1" indent="0">
              <a:buNone/>
            </a:pPr>
            <a:r>
              <a:rPr lang="en-US" altLang="zh-TW" dirty="0"/>
              <a:t>directly applying SSL for semi-supervised learning suffers from misalignment of representations learned from self-supervised and supervised learning tasks</a:t>
            </a:r>
          </a:p>
          <a:p>
            <a:pPr lvl="1"/>
            <a:endParaRPr lang="en-US" altLang="zh-TW" dirty="0"/>
          </a:p>
        </p:txBody>
      </p:sp>
      <p:sp>
        <p:nvSpPr>
          <p:cNvPr id="4" name="文字方塊 3">
            <a:extLst>
              <a:ext uri="{FF2B5EF4-FFF2-40B4-BE49-F238E27FC236}">
                <a16:creationId xmlns:a16="http://schemas.microsoft.com/office/drawing/2014/main" id="{AC5E97C6-0AF0-B544-A667-32030255884D}"/>
              </a:ext>
            </a:extLst>
          </p:cNvPr>
          <p:cNvSpPr txBox="1"/>
          <p:nvPr/>
        </p:nvSpPr>
        <p:spPr>
          <a:xfrm>
            <a:off x="-2" y="3908283"/>
            <a:ext cx="12191999" cy="2769989"/>
          </a:xfrm>
          <a:prstGeom prst="rect">
            <a:avLst/>
          </a:prstGeom>
          <a:noFill/>
        </p:spPr>
        <p:txBody>
          <a:bodyPr wrap="square" rtlCol="0">
            <a:spAutoFit/>
          </a:bodyPr>
          <a:lstStyle/>
          <a:p>
            <a:r>
              <a:rPr kumimoji="1" lang="en-US" altLang="zh-TW" sz="2800" dirty="0"/>
              <a:t>Solutions:</a:t>
            </a:r>
          </a:p>
          <a:p>
            <a:r>
              <a:rPr kumimoji="1" lang="en-US" altLang="zh-TW" sz="2800" dirty="0"/>
              <a:t>     </a:t>
            </a:r>
            <a:r>
              <a:rPr lang="en-US" altLang="zh-TW" sz="2400" dirty="0"/>
              <a:t>self-supervised semi-supervised learning (S4L), that couples self-supervision with a semi-supervised learning algorithm </a:t>
            </a:r>
          </a:p>
          <a:p>
            <a:r>
              <a:rPr kumimoji="1" lang="en-US" altLang="zh-TW" sz="2400" dirty="0"/>
              <a:t>     </a:t>
            </a:r>
            <a:r>
              <a:rPr lang="en-US" altLang="zh-TW" sz="2400" dirty="0"/>
              <a:t>an Adversarial Self-Supervised Learning (ASSL) Network for semi-supervised 3D action recognition </a:t>
            </a:r>
          </a:p>
          <a:p>
            <a:endParaRPr kumimoji="1" lang="en-US" altLang="zh-TW" sz="2800" dirty="0"/>
          </a:p>
          <a:p>
            <a:r>
              <a:rPr kumimoji="1" lang="en-US" altLang="zh-TW" dirty="0"/>
              <a:t>        </a:t>
            </a:r>
            <a:endParaRPr kumimoji="1" lang="zh-TW" altLang="en-US" dirty="0"/>
          </a:p>
        </p:txBody>
      </p:sp>
    </p:spTree>
    <p:extLst>
      <p:ext uri="{BB962C8B-B14F-4D97-AF65-F5344CB8AC3E}">
        <p14:creationId xmlns:p14="http://schemas.microsoft.com/office/powerpoint/2010/main" val="2384384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C8F843-4DFA-9443-9D62-5CBE9FE6A867}"/>
              </a:ext>
            </a:extLst>
          </p:cNvPr>
          <p:cNvSpPr>
            <a:spLocks noGrp="1"/>
          </p:cNvSpPr>
          <p:nvPr>
            <p:ph type="title"/>
          </p:nvPr>
        </p:nvSpPr>
        <p:spPr>
          <a:xfrm>
            <a:off x="0" y="0"/>
            <a:ext cx="10515600" cy="1325563"/>
          </a:xfrm>
        </p:spPr>
        <p:txBody>
          <a:bodyPr/>
          <a:lstStyle/>
          <a:p>
            <a:r>
              <a:rPr kumimoji="1" lang="en-US" altLang="zh-TW" dirty="0"/>
              <a:t>Model Architecture</a:t>
            </a:r>
            <a:endParaRPr kumimoji="1" lang="zh-TW" altLang="en-US" dirty="0"/>
          </a:p>
        </p:txBody>
      </p:sp>
      <p:pic>
        <p:nvPicPr>
          <p:cNvPr id="4" name="圖片 3">
            <a:extLst>
              <a:ext uri="{FF2B5EF4-FFF2-40B4-BE49-F238E27FC236}">
                <a16:creationId xmlns:a16="http://schemas.microsoft.com/office/drawing/2014/main" id="{38FD9670-B28E-D541-B2A7-E9ADB90FB71F}"/>
              </a:ext>
            </a:extLst>
          </p:cNvPr>
          <p:cNvPicPr>
            <a:picLocks noChangeAspect="1"/>
          </p:cNvPicPr>
          <p:nvPr/>
        </p:nvPicPr>
        <p:blipFill>
          <a:blip r:embed="rId2"/>
          <a:stretch>
            <a:fillRect/>
          </a:stretch>
        </p:blipFill>
        <p:spPr>
          <a:xfrm>
            <a:off x="1331088" y="1097273"/>
            <a:ext cx="9341434" cy="5760727"/>
          </a:xfrm>
          <a:prstGeom prst="rect">
            <a:avLst/>
          </a:prstGeom>
        </p:spPr>
      </p:pic>
    </p:spTree>
    <p:extLst>
      <p:ext uri="{BB962C8B-B14F-4D97-AF65-F5344CB8AC3E}">
        <p14:creationId xmlns:p14="http://schemas.microsoft.com/office/powerpoint/2010/main" val="269145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1FBFE8-9B90-0843-83BA-BB364A3E0BF2}"/>
              </a:ext>
            </a:extLst>
          </p:cNvPr>
          <p:cNvSpPr>
            <a:spLocks noGrp="1"/>
          </p:cNvSpPr>
          <p:nvPr>
            <p:ph type="title"/>
          </p:nvPr>
        </p:nvSpPr>
        <p:spPr>
          <a:xfrm>
            <a:off x="0" y="0"/>
            <a:ext cx="10515600" cy="1325563"/>
          </a:xfrm>
        </p:spPr>
        <p:txBody>
          <a:bodyPr/>
          <a:lstStyle/>
          <a:p>
            <a:r>
              <a:rPr kumimoji="1" lang="en-US" altLang="zh-TW" dirty="0"/>
              <a:t>Self-Supervised</a:t>
            </a:r>
            <a:endParaRPr kumimoji="1" lang="zh-TW" altLang="en-US" dirty="0"/>
          </a:p>
        </p:txBody>
      </p:sp>
      <p:pic>
        <p:nvPicPr>
          <p:cNvPr id="4" name="圖片 3">
            <a:extLst>
              <a:ext uri="{FF2B5EF4-FFF2-40B4-BE49-F238E27FC236}">
                <a16:creationId xmlns:a16="http://schemas.microsoft.com/office/drawing/2014/main" id="{99970CF5-D64B-8B40-99C6-2B3311761DC0}"/>
              </a:ext>
            </a:extLst>
          </p:cNvPr>
          <p:cNvPicPr>
            <a:picLocks noChangeAspect="1"/>
          </p:cNvPicPr>
          <p:nvPr/>
        </p:nvPicPr>
        <p:blipFill>
          <a:blip r:embed="rId2"/>
          <a:stretch>
            <a:fillRect/>
          </a:stretch>
        </p:blipFill>
        <p:spPr>
          <a:xfrm>
            <a:off x="5664200" y="88900"/>
            <a:ext cx="6527800" cy="6769100"/>
          </a:xfrm>
          <a:prstGeom prst="rect">
            <a:avLst/>
          </a:prstGeom>
        </p:spPr>
      </p:pic>
      <p:sp>
        <p:nvSpPr>
          <p:cNvPr id="5" name="文字方塊 4">
            <a:extLst>
              <a:ext uri="{FF2B5EF4-FFF2-40B4-BE49-F238E27FC236}">
                <a16:creationId xmlns:a16="http://schemas.microsoft.com/office/drawing/2014/main" id="{36DED086-0D37-AE42-A09E-7BB7D9A3C87D}"/>
              </a:ext>
            </a:extLst>
          </p:cNvPr>
          <p:cNvSpPr txBox="1"/>
          <p:nvPr/>
        </p:nvSpPr>
        <p:spPr>
          <a:xfrm>
            <a:off x="0" y="983848"/>
            <a:ext cx="6671185" cy="5632311"/>
          </a:xfrm>
          <a:prstGeom prst="rect">
            <a:avLst/>
          </a:prstGeom>
          <a:noFill/>
        </p:spPr>
        <p:txBody>
          <a:bodyPr wrap="none" rtlCol="0">
            <a:spAutoFit/>
          </a:bodyPr>
          <a:lstStyle/>
          <a:p>
            <a:r>
              <a:rPr kumimoji="1" lang="en-US" altLang="zh-TW" dirty="0"/>
              <a:t>Self-Inpainting: learn temporal information for each </a:t>
            </a:r>
          </a:p>
          <a:p>
            <a:r>
              <a:rPr kumimoji="1" lang="en-US" altLang="zh-TW" dirty="0"/>
              <a:t>	          unlabeled sequence</a:t>
            </a:r>
          </a:p>
          <a:p>
            <a:endParaRPr kumimoji="1" lang="en-US" altLang="zh-TW" dirty="0"/>
          </a:p>
          <a:p>
            <a:r>
              <a:rPr kumimoji="1" lang="en-US" altLang="zh-TW" dirty="0"/>
              <a:t>Encoder: </a:t>
            </a:r>
            <a:r>
              <a:rPr lang="en-US" altLang="zh-TW" dirty="0"/>
              <a:t>takes an input skeleton sequence x from </a:t>
            </a:r>
          </a:p>
          <a:p>
            <a:r>
              <a:rPr lang="en-US" altLang="zh-TW" dirty="0"/>
              <a:t>	training set and produces a vector </a:t>
            </a:r>
          </a:p>
          <a:p>
            <a:r>
              <a:rPr lang="en-US" altLang="zh-TW" dirty="0"/>
              <a:t>	as the temporal features h</a:t>
            </a:r>
          </a:p>
          <a:p>
            <a:endParaRPr lang="en-US" altLang="zh-TW" dirty="0"/>
          </a:p>
          <a:p>
            <a:r>
              <a:rPr lang="en-US" altLang="zh-TW" dirty="0"/>
              <a:t>Decoder: aims to fill the masked regions in the input sequence </a:t>
            </a:r>
          </a:p>
          <a:p>
            <a:endParaRPr lang="en-US" altLang="zh-TW" dirty="0"/>
          </a:p>
          <a:p>
            <a:r>
              <a:rPr lang="en-US" altLang="zh-TW" dirty="0"/>
              <a:t>FC: bridge the gap between the feature spaces of action classification</a:t>
            </a:r>
          </a:p>
          <a:p>
            <a:r>
              <a:rPr lang="en-US" altLang="zh-TW" dirty="0"/>
              <a:t>       and skeleton inpainting</a:t>
            </a:r>
          </a:p>
          <a:p>
            <a:endParaRPr lang="en-US" altLang="zh-TW" dirty="0"/>
          </a:p>
          <a:p>
            <a:r>
              <a:rPr lang="en-US" altLang="zh-TW" dirty="0"/>
              <a:t>K-nearest neighbor: select K nearest neighbors from </a:t>
            </a:r>
          </a:p>
          <a:p>
            <a:r>
              <a:rPr lang="en-US" altLang="zh-TW" dirty="0"/>
              <a:t>		 unlabeled training set </a:t>
            </a:r>
          </a:p>
          <a:p>
            <a:endParaRPr lang="en-US" altLang="zh-TW" dirty="0"/>
          </a:p>
          <a:p>
            <a:r>
              <a:rPr lang="en-US" altLang="zh-TW" dirty="0"/>
              <a:t>message aggregation module: produce the local center vector </a:t>
            </a:r>
          </a:p>
          <a:p>
            <a:endParaRPr lang="en-US" altLang="zh-TW" dirty="0"/>
          </a:p>
          <a:p>
            <a:endParaRPr lang="en-US" altLang="zh-TW" dirty="0"/>
          </a:p>
          <a:p>
            <a:endParaRPr lang="en-US" altLang="zh-TW" dirty="0"/>
          </a:p>
          <a:p>
            <a:endParaRPr kumimoji="1" lang="zh-TW" altLang="en-US" dirty="0"/>
          </a:p>
        </p:txBody>
      </p:sp>
      <p:pic>
        <p:nvPicPr>
          <p:cNvPr id="6" name="圖片 5">
            <a:extLst>
              <a:ext uri="{FF2B5EF4-FFF2-40B4-BE49-F238E27FC236}">
                <a16:creationId xmlns:a16="http://schemas.microsoft.com/office/drawing/2014/main" id="{0A506FB7-B981-8346-A304-3B524D1F3BB9}"/>
              </a:ext>
            </a:extLst>
          </p:cNvPr>
          <p:cNvPicPr>
            <a:picLocks noChangeAspect="1"/>
          </p:cNvPicPr>
          <p:nvPr/>
        </p:nvPicPr>
        <p:blipFill>
          <a:blip r:embed="rId3"/>
          <a:stretch>
            <a:fillRect/>
          </a:stretch>
        </p:blipFill>
        <p:spPr>
          <a:xfrm>
            <a:off x="0" y="5521680"/>
            <a:ext cx="2673752" cy="704944"/>
          </a:xfrm>
          <a:prstGeom prst="rect">
            <a:avLst/>
          </a:prstGeom>
        </p:spPr>
      </p:pic>
      <p:pic>
        <p:nvPicPr>
          <p:cNvPr id="7" name="圖片 6">
            <a:extLst>
              <a:ext uri="{FF2B5EF4-FFF2-40B4-BE49-F238E27FC236}">
                <a16:creationId xmlns:a16="http://schemas.microsoft.com/office/drawing/2014/main" id="{2D0C9186-E82C-F041-83CB-ECE7FC4FB3E0}"/>
              </a:ext>
            </a:extLst>
          </p:cNvPr>
          <p:cNvPicPr>
            <a:picLocks noChangeAspect="1"/>
          </p:cNvPicPr>
          <p:nvPr/>
        </p:nvPicPr>
        <p:blipFill>
          <a:blip r:embed="rId4"/>
          <a:stretch>
            <a:fillRect/>
          </a:stretch>
        </p:blipFill>
        <p:spPr>
          <a:xfrm>
            <a:off x="2673752" y="5406170"/>
            <a:ext cx="1747777" cy="877772"/>
          </a:xfrm>
          <a:prstGeom prst="rect">
            <a:avLst/>
          </a:prstGeom>
        </p:spPr>
      </p:pic>
    </p:spTree>
    <p:extLst>
      <p:ext uri="{BB962C8B-B14F-4D97-AF65-F5344CB8AC3E}">
        <p14:creationId xmlns:p14="http://schemas.microsoft.com/office/powerpoint/2010/main" val="761669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9916A0-53FD-D246-84AD-647351B92EAF}"/>
              </a:ext>
            </a:extLst>
          </p:cNvPr>
          <p:cNvSpPr>
            <a:spLocks noGrp="1"/>
          </p:cNvSpPr>
          <p:nvPr>
            <p:ph type="title"/>
          </p:nvPr>
        </p:nvSpPr>
        <p:spPr>
          <a:xfrm>
            <a:off x="0" y="18255"/>
            <a:ext cx="10515600" cy="1325563"/>
          </a:xfrm>
        </p:spPr>
        <p:txBody>
          <a:bodyPr/>
          <a:lstStyle/>
          <a:p>
            <a:r>
              <a:rPr kumimoji="1" lang="en-US" altLang="zh-TW" dirty="0"/>
              <a:t>Self-Supervised</a:t>
            </a:r>
            <a:endParaRPr kumimoji="1" lang="zh-TW" altLang="en-US" dirty="0"/>
          </a:p>
        </p:txBody>
      </p:sp>
      <p:sp>
        <p:nvSpPr>
          <p:cNvPr id="4" name="文字方塊 3">
            <a:extLst>
              <a:ext uri="{FF2B5EF4-FFF2-40B4-BE49-F238E27FC236}">
                <a16:creationId xmlns:a16="http://schemas.microsoft.com/office/drawing/2014/main" id="{673B9C73-E0D2-DC4C-9826-99934FF111BC}"/>
              </a:ext>
            </a:extLst>
          </p:cNvPr>
          <p:cNvSpPr txBox="1"/>
          <p:nvPr/>
        </p:nvSpPr>
        <p:spPr>
          <a:xfrm>
            <a:off x="-11253" y="2605110"/>
            <a:ext cx="934871" cy="369332"/>
          </a:xfrm>
          <a:prstGeom prst="rect">
            <a:avLst/>
          </a:prstGeom>
          <a:noFill/>
        </p:spPr>
        <p:txBody>
          <a:bodyPr wrap="none" rtlCol="0">
            <a:spAutoFit/>
          </a:bodyPr>
          <a:lstStyle/>
          <a:p>
            <a:r>
              <a:rPr kumimoji="1" lang="en-US" altLang="zh-TW" dirty="0"/>
              <a:t>KL-Loss:</a:t>
            </a:r>
            <a:endParaRPr kumimoji="1" lang="zh-TW" altLang="en-US" dirty="0"/>
          </a:p>
        </p:txBody>
      </p:sp>
      <p:pic>
        <p:nvPicPr>
          <p:cNvPr id="6" name="圖片 5">
            <a:extLst>
              <a:ext uri="{FF2B5EF4-FFF2-40B4-BE49-F238E27FC236}">
                <a16:creationId xmlns:a16="http://schemas.microsoft.com/office/drawing/2014/main" id="{ADB693CA-C5B4-464F-86BF-9AAE0C87F3CF}"/>
              </a:ext>
            </a:extLst>
          </p:cNvPr>
          <p:cNvPicPr>
            <a:picLocks noChangeAspect="1"/>
          </p:cNvPicPr>
          <p:nvPr/>
        </p:nvPicPr>
        <p:blipFill>
          <a:blip r:embed="rId2"/>
          <a:stretch>
            <a:fillRect/>
          </a:stretch>
        </p:blipFill>
        <p:spPr>
          <a:xfrm>
            <a:off x="5664200" y="88900"/>
            <a:ext cx="6527800" cy="6769100"/>
          </a:xfrm>
          <a:prstGeom prst="rect">
            <a:avLst/>
          </a:prstGeom>
        </p:spPr>
      </p:pic>
      <p:pic>
        <p:nvPicPr>
          <p:cNvPr id="5" name="圖片 4">
            <a:extLst>
              <a:ext uri="{FF2B5EF4-FFF2-40B4-BE49-F238E27FC236}">
                <a16:creationId xmlns:a16="http://schemas.microsoft.com/office/drawing/2014/main" id="{7F60EA80-3E67-2543-A6C0-0CB1F40B78BD}"/>
              </a:ext>
            </a:extLst>
          </p:cNvPr>
          <p:cNvPicPr>
            <a:picLocks noChangeAspect="1"/>
          </p:cNvPicPr>
          <p:nvPr/>
        </p:nvPicPr>
        <p:blipFill>
          <a:blip r:embed="rId3"/>
          <a:stretch>
            <a:fillRect/>
          </a:stretch>
        </p:blipFill>
        <p:spPr>
          <a:xfrm>
            <a:off x="0" y="2974442"/>
            <a:ext cx="6516547" cy="909116"/>
          </a:xfrm>
          <a:prstGeom prst="rect">
            <a:avLst/>
          </a:prstGeom>
        </p:spPr>
      </p:pic>
      <p:sp>
        <p:nvSpPr>
          <p:cNvPr id="7" name="矩形 6">
            <a:extLst>
              <a:ext uri="{FF2B5EF4-FFF2-40B4-BE49-F238E27FC236}">
                <a16:creationId xmlns:a16="http://schemas.microsoft.com/office/drawing/2014/main" id="{BBDFAA1F-4F57-DB44-A9C3-0FB69C2D55B4}"/>
              </a:ext>
            </a:extLst>
          </p:cNvPr>
          <p:cNvSpPr/>
          <p:nvPr/>
        </p:nvSpPr>
        <p:spPr>
          <a:xfrm>
            <a:off x="-11253" y="4051068"/>
            <a:ext cx="4187749" cy="369332"/>
          </a:xfrm>
          <a:prstGeom prst="rect">
            <a:avLst/>
          </a:prstGeom>
        </p:spPr>
        <p:txBody>
          <a:bodyPr wrap="none">
            <a:spAutoFit/>
          </a:bodyPr>
          <a:lstStyle/>
          <a:p>
            <a:r>
              <a:rPr lang="en-US" altLang="zh-TW" dirty="0">
                <a:latin typeface="CMMI10"/>
              </a:rPr>
              <a:t>KL</a:t>
            </a:r>
            <a:r>
              <a:rPr lang="en-US" altLang="zh-TW" dirty="0">
                <a:latin typeface="CMR10"/>
              </a:rPr>
              <a:t>(</a:t>
            </a:r>
            <a:r>
              <a:rPr lang="en-US" altLang="zh-TW" dirty="0">
                <a:latin typeface="CMSY10"/>
              </a:rPr>
              <a:t>·</a:t>
            </a:r>
            <a:r>
              <a:rPr lang="en-US" altLang="zh-TW" dirty="0">
                <a:latin typeface="CMR10"/>
              </a:rPr>
              <a:t>) denotes </a:t>
            </a:r>
            <a:r>
              <a:rPr lang="en-US" altLang="zh-TW" dirty="0" err="1">
                <a:latin typeface="CMR10"/>
              </a:rPr>
              <a:t>Kullback</a:t>
            </a:r>
            <a:r>
              <a:rPr lang="en-US" altLang="zh-TW" dirty="0">
                <a:latin typeface="CMR10"/>
              </a:rPr>
              <a:t>- </a:t>
            </a:r>
            <a:r>
              <a:rPr lang="en-US" altLang="zh-TW" dirty="0" err="1">
                <a:latin typeface="CMR10"/>
              </a:rPr>
              <a:t>Leibler</a:t>
            </a:r>
            <a:r>
              <a:rPr lang="en-US" altLang="zh-TW" dirty="0">
                <a:latin typeface="CMR10"/>
              </a:rPr>
              <a:t> divergence. </a:t>
            </a:r>
            <a:endParaRPr lang="en-US" altLang="zh-TW" dirty="0"/>
          </a:p>
        </p:txBody>
      </p:sp>
    </p:spTree>
    <p:extLst>
      <p:ext uri="{BB962C8B-B14F-4D97-AF65-F5344CB8AC3E}">
        <p14:creationId xmlns:p14="http://schemas.microsoft.com/office/powerpoint/2010/main" val="384761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2D04F5-B373-0041-AEF3-F2D0F3410576}"/>
              </a:ext>
            </a:extLst>
          </p:cNvPr>
          <p:cNvSpPr>
            <a:spLocks noGrp="1"/>
          </p:cNvSpPr>
          <p:nvPr>
            <p:ph type="title"/>
          </p:nvPr>
        </p:nvSpPr>
        <p:spPr>
          <a:xfrm>
            <a:off x="0" y="18255"/>
            <a:ext cx="10515600" cy="1325563"/>
          </a:xfrm>
        </p:spPr>
        <p:txBody>
          <a:bodyPr/>
          <a:lstStyle/>
          <a:p>
            <a:r>
              <a:rPr kumimoji="1" lang="en-US" altLang="zh-TW" dirty="0"/>
              <a:t>Semi-Supervised</a:t>
            </a:r>
            <a:endParaRPr kumimoji="1" lang="zh-TW" altLang="en-US" dirty="0"/>
          </a:p>
        </p:txBody>
      </p:sp>
      <p:pic>
        <p:nvPicPr>
          <p:cNvPr id="4" name="圖片 3">
            <a:extLst>
              <a:ext uri="{FF2B5EF4-FFF2-40B4-BE49-F238E27FC236}">
                <a16:creationId xmlns:a16="http://schemas.microsoft.com/office/drawing/2014/main" id="{171A9F9C-259D-2546-812B-A708D6DF6FDF}"/>
              </a:ext>
            </a:extLst>
          </p:cNvPr>
          <p:cNvPicPr>
            <a:picLocks noChangeAspect="1"/>
          </p:cNvPicPr>
          <p:nvPr/>
        </p:nvPicPr>
        <p:blipFill>
          <a:blip r:embed="rId2"/>
          <a:stretch>
            <a:fillRect/>
          </a:stretch>
        </p:blipFill>
        <p:spPr>
          <a:xfrm>
            <a:off x="7231284" y="0"/>
            <a:ext cx="4419600" cy="6705600"/>
          </a:xfrm>
          <a:prstGeom prst="rect">
            <a:avLst/>
          </a:prstGeom>
        </p:spPr>
      </p:pic>
      <p:pic>
        <p:nvPicPr>
          <p:cNvPr id="5" name="圖片 4">
            <a:extLst>
              <a:ext uri="{FF2B5EF4-FFF2-40B4-BE49-F238E27FC236}">
                <a16:creationId xmlns:a16="http://schemas.microsoft.com/office/drawing/2014/main" id="{E35809E9-D7ED-2D4E-888F-E8F292D9AC0B}"/>
              </a:ext>
            </a:extLst>
          </p:cNvPr>
          <p:cNvPicPr>
            <a:picLocks noChangeAspect="1"/>
          </p:cNvPicPr>
          <p:nvPr/>
        </p:nvPicPr>
        <p:blipFill>
          <a:blip r:embed="rId3"/>
          <a:stretch>
            <a:fillRect/>
          </a:stretch>
        </p:blipFill>
        <p:spPr>
          <a:xfrm>
            <a:off x="0" y="1343818"/>
            <a:ext cx="5715000" cy="1282700"/>
          </a:xfrm>
          <a:prstGeom prst="rect">
            <a:avLst/>
          </a:prstGeom>
        </p:spPr>
      </p:pic>
      <p:sp>
        <p:nvSpPr>
          <p:cNvPr id="6" name="標題 1">
            <a:extLst>
              <a:ext uri="{FF2B5EF4-FFF2-40B4-BE49-F238E27FC236}">
                <a16:creationId xmlns:a16="http://schemas.microsoft.com/office/drawing/2014/main" id="{04ACA2C9-AEF0-F042-9E29-C4B41CEFB00B}"/>
              </a:ext>
            </a:extLst>
          </p:cNvPr>
          <p:cNvSpPr txBox="1">
            <a:spLocks/>
          </p:cNvSpPr>
          <p:nvPr/>
        </p:nvSpPr>
        <p:spPr>
          <a:xfrm>
            <a:off x="0" y="328929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dirty="0"/>
              <a:t>Total Loss Function</a:t>
            </a:r>
            <a:endParaRPr kumimoji="1" lang="zh-TW" altLang="en-US" dirty="0"/>
          </a:p>
        </p:txBody>
      </p:sp>
      <p:pic>
        <p:nvPicPr>
          <p:cNvPr id="7" name="圖片 6">
            <a:extLst>
              <a:ext uri="{FF2B5EF4-FFF2-40B4-BE49-F238E27FC236}">
                <a16:creationId xmlns:a16="http://schemas.microsoft.com/office/drawing/2014/main" id="{E3C8CC2C-DC0A-914D-8B10-2CD1B2210B80}"/>
              </a:ext>
            </a:extLst>
          </p:cNvPr>
          <p:cNvPicPr>
            <a:picLocks noChangeAspect="1"/>
          </p:cNvPicPr>
          <p:nvPr/>
        </p:nvPicPr>
        <p:blipFill>
          <a:blip r:embed="rId4"/>
          <a:stretch>
            <a:fillRect/>
          </a:stretch>
        </p:blipFill>
        <p:spPr>
          <a:xfrm>
            <a:off x="0" y="4612481"/>
            <a:ext cx="4749800" cy="698500"/>
          </a:xfrm>
          <a:prstGeom prst="rect">
            <a:avLst/>
          </a:prstGeom>
        </p:spPr>
      </p:pic>
    </p:spTree>
    <p:extLst>
      <p:ext uri="{BB962C8B-B14F-4D97-AF65-F5344CB8AC3E}">
        <p14:creationId xmlns:p14="http://schemas.microsoft.com/office/powerpoint/2010/main" val="943849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E070B7-D9F1-484C-93C2-38052840E476}"/>
              </a:ext>
            </a:extLst>
          </p:cNvPr>
          <p:cNvSpPr>
            <a:spLocks noGrp="1"/>
          </p:cNvSpPr>
          <p:nvPr>
            <p:ph type="title"/>
          </p:nvPr>
        </p:nvSpPr>
        <p:spPr>
          <a:xfrm>
            <a:off x="0" y="18255"/>
            <a:ext cx="10515600" cy="1325563"/>
          </a:xfrm>
        </p:spPr>
        <p:txBody>
          <a:bodyPr>
            <a:normAutofit fontScale="90000"/>
          </a:bodyPr>
          <a:lstStyle/>
          <a:p>
            <a:r>
              <a:rPr lang="en-US" altLang="zh-TW" dirty="0"/>
              <a:t>Adversarial Learning for Aligning Self-Supervised and Semi-Supervised Representations </a:t>
            </a:r>
            <a:endParaRPr kumimoji="1" lang="zh-TW" altLang="en-US" dirty="0"/>
          </a:p>
        </p:txBody>
      </p:sp>
      <p:pic>
        <p:nvPicPr>
          <p:cNvPr id="4" name="圖片 3">
            <a:extLst>
              <a:ext uri="{FF2B5EF4-FFF2-40B4-BE49-F238E27FC236}">
                <a16:creationId xmlns:a16="http://schemas.microsoft.com/office/drawing/2014/main" id="{065E5644-97A1-9041-BEB3-48E25027BDD8}"/>
              </a:ext>
            </a:extLst>
          </p:cNvPr>
          <p:cNvPicPr>
            <a:picLocks noChangeAspect="1"/>
          </p:cNvPicPr>
          <p:nvPr/>
        </p:nvPicPr>
        <p:blipFill>
          <a:blip r:embed="rId2"/>
          <a:stretch>
            <a:fillRect/>
          </a:stretch>
        </p:blipFill>
        <p:spPr>
          <a:xfrm>
            <a:off x="6388100" y="1343818"/>
            <a:ext cx="5803900" cy="3517900"/>
          </a:xfrm>
          <a:prstGeom prst="rect">
            <a:avLst/>
          </a:prstGeom>
        </p:spPr>
      </p:pic>
      <p:sp>
        <p:nvSpPr>
          <p:cNvPr id="5" name="矩形 4">
            <a:extLst>
              <a:ext uri="{FF2B5EF4-FFF2-40B4-BE49-F238E27FC236}">
                <a16:creationId xmlns:a16="http://schemas.microsoft.com/office/drawing/2014/main" id="{397AD325-4BDB-644B-8D2F-3B2BC472973C}"/>
              </a:ext>
            </a:extLst>
          </p:cNvPr>
          <p:cNvSpPr/>
          <p:nvPr/>
        </p:nvSpPr>
        <p:spPr>
          <a:xfrm>
            <a:off x="0" y="1948763"/>
            <a:ext cx="6096000" cy="923330"/>
          </a:xfrm>
          <a:prstGeom prst="rect">
            <a:avLst/>
          </a:prstGeom>
        </p:spPr>
        <p:txBody>
          <a:bodyPr>
            <a:spAutoFit/>
          </a:bodyPr>
          <a:lstStyle/>
          <a:p>
            <a:r>
              <a:rPr lang="en-US" altLang="zh-TW" dirty="0">
                <a:latin typeface="CMR10"/>
              </a:rPr>
              <a:t>A discriminator </a:t>
            </a:r>
            <a:r>
              <a:rPr lang="en-US" altLang="zh-TW" dirty="0">
                <a:latin typeface="CMMI10"/>
              </a:rPr>
              <a:t>D </a:t>
            </a:r>
            <a:r>
              <a:rPr lang="en-US" altLang="zh-TW" dirty="0">
                <a:latin typeface="CMR10"/>
              </a:rPr>
              <a:t>is trained to distinguish the unlabeled features from the labeled features. And the model is trained simultaneously to confuse the discriminator </a:t>
            </a:r>
            <a:r>
              <a:rPr lang="en-US" altLang="zh-TW" dirty="0">
                <a:latin typeface="CMMI10"/>
              </a:rPr>
              <a:t>D</a:t>
            </a:r>
            <a:endParaRPr lang="en-US" altLang="zh-TW" dirty="0"/>
          </a:p>
        </p:txBody>
      </p:sp>
      <p:pic>
        <p:nvPicPr>
          <p:cNvPr id="6" name="圖片 5">
            <a:extLst>
              <a:ext uri="{FF2B5EF4-FFF2-40B4-BE49-F238E27FC236}">
                <a16:creationId xmlns:a16="http://schemas.microsoft.com/office/drawing/2014/main" id="{2CE8527C-A865-A74A-B44D-4536938B2B6E}"/>
              </a:ext>
            </a:extLst>
          </p:cNvPr>
          <p:cNvPicPr>
            <a:picLocks noChangeAspect="1"/>
          </p:cNvPicPr>
          <p:nvPr/>
        </p:nvPicPr>
        <p:blipFill>
          <a:blip r:embed="rId3"/>
          <a:stretch>
            <a:fillRect/>
          </a:stretch>
        </p:blipFill>
        <p:spPr>
          <a:xfrm>
            <a:off x="354555" y="4977114"/>
            <a:ext cx="11112500" cy="1371600"/>
          </a:xfrm>
          <a:prstGeom prst="rect">
            <a:avLst/>
          </a:prstGeom>
        </p:spPr>
      </p:pic>
    </p:spTree>
    <p:extLst>
      <p:ext uri="{BB962C8B-B14F-4D97-AF65-F5344CB8AC3E}">
        <p14:creationId xmlns:p14="http://schemas.microsoft.com/office/powerpoint/2010/main" val="65792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CF222A-2F3E-7141-B8C6-2AAB2282B5E8}"/>
              </a:ext>
            </a:extLst>
          </p:cNvPr>
          <p:cNvSpPr>
            <a:spLocks noGrp="1"/>
          </p:cNvSpPr>
          <p:nvPr>
            <p:ph type="title"/>
          </p:nvPr>
        </p:nvSpPr>
        <p:spPr>
          <a:xfrm>
            <a:off x="0" y="18255"/>
            <a:ext cx="10515600" cy="1325563"/>
          </a:xfrm>
        </p:spPr>
        <p:txBody>
          <a:bodyPr/>
          <a:lstStyle/>
          <a:p>
            <a:r>
              <a:rPr kumimoji="1" lang="en-US" altLang="zh-TW" dirty="0"/>
              <a:t>Result</a:t>
            </a:r>
            <a:endParaRPr kumimoji="1" lang="zh-TW" altLang="en-US" dirty="0"/>
          </a:p>
        </p:txBody>
      </p:sp>
      <p:pic>
        <p:nvPicPr>
          <p:cNvPr id="4" name="圖片 3">
            <a:extLst>
              <a:ext uri="{FF2B5EF4-FFF2-40B4-BE49-F238E27FC236}">
                <a16:creationId xmlns:a16="http://schemas.microsoft.com/office/drawing/2014/main" id="{2FDD47E9-F897-BF46-A22F-994A5B89A893}"/>
              </a:ext>
            </a:extLst>
          </p:cNvPr>
          <p:cNvPicPr>
            <a:picLocks noChangeAspect="1"/>
          </p:cNvPicPr>
          <p:nvPr/>
        </p:nvPicPr>
        <p:blipFill>
          <a:blip r:embed="rId2"/>
          <a:stretch>
            <a:fillRect/>
          </a:stretch>
        </p:blipFill>
        <p:spPr>
          <a:xfrm>
            <a:off x="0" y="930077"/>
            <a:ext cx="12192000" cy="2775506"/>
          </a:xfrm>
          <a:prstGeom prst="rect">
            <a:avLst/>
          </a:prstGeom>
        </p:spPr>
      </p:pic>
      <p:sp>
        <p:nvSpPr>
          <p:cNvPr id="5" name="標題 1">
            <a:extLst>
              <a:ext uri="{FF2B5EF4-FFF2-40B4-BE49-F238E27FC236}">
                <a16:creationId xmlns:a16="http://schemas.microsoft.com/office/drawing/2014/main" id="{74C2BEC1-FF7F-BB4F-8C94-DAC52DA81B72}"/>
              </a:ext>
            </a:extLst>
          </p:cNvPr>
          <p:cNvSpPr txBox="1">
            <a:spLocks/>
          </p:cNvSpPr>
          <p:nvPr/>
        </p:nvSpPr>
        <p:spPr>
          <a:xfrm>
            <a:off x="0" y="451581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dirty="0"/>
              <a:t>Self-Supervised Pretext</a:t>
            </a:r>
          </a:p>
          <a:p>
            <a:r>
              <a:rPr lang="en-US" altLang="zh-TW" sz="1800" dirty="0"/>
              <a:t>Neighborhood Consistency </a:t>
            </a:r>
          </a:p>
          <a:p>
            <a:endParaRPr kumimoji="1" lang="zh-TW" altLang="en-US" dirty="0"/>
          </a:p>
        </p:txBody>
      </p:sp>
    </p:spTree>
    <p:extLst>
      <p:ext uri="{BB962C8B-B14F-4D97-AF65-F5344CB8AC3E}">
        <p14:creationId xmlns:p14="http://schemas.microsoft.com/office/powerpoint/2010/main" val="253047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2C5E69-50B9-3D42-B182-E1E39FCABC4C}"/>
              </a:ext>
            </a:extLst>
          </p:cNvPr>
          <p:cNvSpPr>
            <a:spLocks noGrp="1"/>
          </p:cNvSpPr>
          <p:nvPr>
            <p:ph type="title"/>
          </p:nvPr>
        </p:nvSpPr>
        <p:spPr>
          <a:xfrm>
            <a:off x="0" y="18255"/>
            <a:ext cx="10515600" cy="1325563"/>
          </a:xfrm>
        </p:spPr>
        <p:txBody>
          <a:bodyPr/>
          <a:lstStyle/>
          <a:p>
            <a:r>
              <a:rPr lang="en-US" altLang="zh-TW" dirty="0"/>
              <a:t>From Image Collections to Point Clouds with Self-supervised Shape and Pose Networks</a:t>
            </a:r>
            <a:endParaRPr kumimoji="1" lang="zh-TW" altLang="en-US" dirty="0"/>
          </a:p>
        </p:txBody>
      </p:sp>
      <p:sp>
        <p:nvSpPr>
          <p:cNvPr id="4" name="矩形 3">
            <a:extLst>
              <a:ext uri="{FF2B5EF4-FFF2-40B4-BE49-F238E27FC236}">
                <a16:creationId xmlns:a16="http://schemas.microsoft.com/office/drawing/2014/main" id="{B31517D2-2145-0048-B287-357E2F4FF1FD}"/>
              </a:ext>
            </a:extLst>
          </p:cNvPr>
          <p:cNvSpPr/>
          <p:nvPr/>
        </p:nvSpPr>
        <p:spPr>
          <a:xfrm>
            <a:off x="0" y="2003575"/>
            <a:ext cx="12192000" cy="3970318"/>
          </a:xfrm>
          <a:prstGeom prst="rect">
            <a:avLst/>
          </a:prstGeom>
        </p:spPr>
        <p:txBody>
          <a:bodyPr wrap="square">
            <a:spAutoFit/>
          </a:bodyPr>
          <a:lstStyle/>
          <a:p>
            <a:r>
              <a:rPr lang="en-US" altLang="zh-TW" dirty="0">
                <a:latin typeface="NimbusRomNo9L"/>
              </a:rPr>
              <a:t>Problems:</a:t>
            </a:r>
          </a:p>
          <a:p>
            <a:r>
              <a:rPr lang="en-US" altLang="zh-TW" dirty="0">
                <a:latin typeface="NimbusRomNo9L"/>
              </a:rPr>
              <a:t>Early works on single image based 3D reconstruction utilize full 3D supervision in the form of 3D voxels, meshes or point clouds. However, such approaches re- quire large amounts of 3D data for training</a:t>
            </a:r>
          </a:p>
          <a:p>
            <a:endParaRPr lang="en-US" altLang="zh-TW" dirty="0">
              <a:latin typeface="NimbusRomNo9L"/>
            </a:endParaRPr>
          </a:p>
          <a:p>
            <a:r>
              <a:rPr lang="en-US" altLang="zh-TW" dirty="0"/>
              <a:t>Several recent works have focused on utilizing multi-view 2D supervision in the form of color images and object silhouettes as an effective alternative training protocol, however, most of these approaches require multiple 2D view of the same 3D model along with the associated camera pose information in the training stage. </a:t>
            </a:r>
          </a:p>
          <a:p>
            <a:endParaRPr lang="en-US" altLang="zh-TW" dirty="0"/>
          </a:p>
          <a:p>
            <a:endParaRPr lang="en-US" altLang="zh-TW" dirty="0"/>
          </a:p>
          <a:p>
            <a:r>
              <a:rPr lang="en-US" altLang="zh-TW" dirty="0"/>
              <a:t>Solution:</a:t>
            </a:r>
          </a:p>
          <a:p>
            <a:r>
              <a:rPr lang="en-US" altLang="zh-TW" dirty="0"/>
              <a:t>	learning 3D object reconstructions from image and corresponding silhouette collections </a:t>
            </a:r>
          </a:p>
          <a:p>
            <a:endParaRPr lang="en-US" altLang="zh-TW" dirty="0"/>
          </a:p>
          <a:p>
            <a:endParaRPr lang="en-US" altLang="zh-TW" dirty="0"/>
          </a:p>
          <a:p>
            <a:r>
              <a:rPr lang="en-US" altLang="zh-TW" dirty="0">
                <a:latin typeface="NimbusRomNo9L"/>
              </a:rPr>
              <a:t> </a:t>
            </a:r>
            <a:endParaRPr lang="en-US" altLang="zh-TW" dirty="0"/>
          </a:p>
        </p:txBody>
      </p:sp>
    </p:spTree>
    <p:extLst>
      <p:ext uri="{BB962C8B-B14F-4D97-AF65-F5344CB8AC3E}">
        <p14:creationId xmlns:p14="http://schemas.microsoft.com/office/powerpoint/2010/main" val="2431700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462696-43B5-7F4F-A961-6069A78C0F43}"/>
              </a:ext>
            </a:extLst>
          </p:cNvPr>
          <p:cNvSpPr>
            <a:spLocks noGrp="1"/>
          </p:cNvSpPr>
          <p:nvPr>
            <p:ph type="title"/>
          </p:nvPr>
        </p:nvSpPr>
        <p:spPr>
          <a:xfrm>
            <a:off x="0" y="18255"/>
            <a:ext cx="10515600" cy="1325563"/>
          </a:xfrm>
        </p:spPr>
        <p:txBody>
          <a:bodyPr/>
          <a:lstStyle/>
          <a:p>
            <a:r>
              <a:rPr kumimoji="1" lang="en-US" altLang="zh-TW" dirty="0"/>
              <a:t>Model Architecture</a:t>
            </a:r>
            <a:endParaRPr kumimoji="1" lang="zh-TW" altLang="en-US" dirty="0"/>
          </a:p>
        </p:txBody>
      </p:sp>
      <p:pic>
        <p:nvPicPr>
          <p:cNvPr id="4" name="圖片 3">
            <a:extLst>
              <a:ext uri="{FF2B5EF4-FFF2-40B4-BE49-F238E27FC236}">
                <a16:creationId xmlns:a16="http://schemas.microsoft.com/office/drawing/2014/main" id="{0838304C-00A7-4D44-8574-F355D7C93E48}"/>
              </a:ext>
            </a:extLst>
          </p:cNvPr>
          <p:cNvPicPr>
            <a:picLocks noChangeAspect="1"/>
          </p:cNvPicPr>
          <p:nvPr/>
        </p:nvPicPr>
        <p:blipFill>
          <a:blip r:embed="rId2"/>
          <a:stretch>
            <a:fillRect/>
          </a:stretch>
        </p:blipFill>
        <p:spPr>
          <a:xfrm>
            <a:off x="869950" y="1343818"/>
            <a:ext cx="10452100" cy="3657600"/>
          </a:xfrm>
          <a:prstGeom prst="rect">
            <a:avLst/>
          </a:prstGeom>
        </p:spPr>
      </p:pic>
    </p:spTree>
    <p:extLst>
      <p:ext uri="{BB962C8B-B14F-4D97-AF65-F5344CB8AC3E}">
        <p14:creationId xmlns:p14="http://schemas.microsoft.com/office/powerpoint/2010/main" val="4035038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D552722A-D2AE-BF4D-9BBC-FBF82BC9A3B1}"/>
              </a:ext>
            </a:extLst>
          </p:cNvPr>
          <p:cNvPicPr>
            <a:picLocks noChangeAspect="1"/>
          </p:cNvPicPr>
          <p:nvPr/>
        </p:nvPicPr>
        <p:blipFill>
          <a:blip r:embed="rId2"/>
          <a:stretch>
            <a:fillRect/>
          </a:stretch>
        </p:blipFill>
        <p:spPr>
          <a:xfrm>
            <a:off x="1883739" y="0"/>
            <a:ext cx="8424521" cy="2948071"/>
          </a:xfrm>
          <a:prstGeom prst="rect">
            <a:avLst/>
          </a:prstGeom>
        </p:spPr>
      </p:pic>
      <p:sp>
        <p:nvSpPr>
          <p:cNvPr id="5" name="文字方塊 4">
            <a:extLst>
              <a:ext uri="{FF2B5EF4-FFF2-40B4-BE49-F238E27FC236}">
                <a16:creationId xmlns:a16="http://schemas.microsoft.com/office/drawing/2014/main" id="{F182EE3F-67D9-6D4F-9F6F-729CD2F82842}"/>
              </a:ext>
            </a:extLst>
          </p:cNvPr>
          <p:cNvSpPr txBox="1"/>
          <p:nvPr/>
        </p:nvSpPr>
        <p:spPr>
          <a:xfrm>
            <a:off x="509286" y="3565003"/>
            <a:ext cx="10686708" cy="1200329"/>
          </a:xfrm>
          <a:prstGeom prst="rect">
            <a:avLst/>
          </a:prstGeom>
          <a:noFill/>
        </p:spPr>
        <p:txBody>
          <a:bodyPr wrap="none" rtlCol="0">
            <a:spAutoFit/>
          </a:bodyPr>
          <a:lstStyle/>
          <a:p>
            <a:r>
              <a:rPr kumimoji="1" lang="en-US" altLang="zh-TW" dirty="0"/>
              <a:t>Projection Module: </a:t>
            </a:r>
            <a:r>
              <a:rPr lang="en-US" altLang="zh-TW" dirty="0"/>
              <a:t>proposed in DIFFER and </a:t>
            </a:r>
            <a:r>
              <a:rPr lang="en-US" altLang="zh-TW" dirty="0" err="1"/>
              <a:t>CAPNet</a:t>
            </a:r>
            <a:r>
              <a:rPr lang="en-US" altLang="zh-TW" dirty="0"/>
              <a:t>; If the predicted viewpoint and reconstructions are correct, </a:t>
            </a:r>
          </a:p>
          <a:p>
            <a:r>
              <a:rPr lang="en-US" altLang="zh-TW" dirty="0"/>
              <a:t>		the 2D projections will match the input image </a:t>
            </a:r>
          </a:p>
          <a:p>
            <a:endParaRPr lang="en-US" altLang="zh-TW" dirty="0"/>
          </a:p>
          <a:p>
            <a:endParaRPr kumimoji="1" lang="zh-TW" altLang="en-US" dirty="0"/>
          </a:p>
        </p:txBody>
      </p:sp>
      <p:pic>
        <p:nvPicPr>
          <p:cNvPr id="6" name="圖片 5">
            <a:extLst>
              <a:ext uri="{FF2B5EF4-FFF2-40B4-BE49-F238E27FC236}">
                <a16:creationId xmlns:a16="http://schemas.microsoft.com/office/drawing/2014/main" id="{99255419-EE06-1046-A499-7A9C60DEB817}"/>
              </a:ext>
            </a:extLst>
          </p:cNvPr>
          <p:cNvPicPr>
            <a:picLocks noChangeAspect="1"/>
          </p:cNvPicPr>
          <p:nvPr/>
        </p:nvPicPr>
        <p:blipFill>
          <a:blip r:embed="rId3"/>
          <a:stretch>
            <a:fillRect/>
          </a:stretch>
        </p:blipFill>
        <p:spPr>
          <a:xfrm>
            <a:off x="409133" y="4168904"/>
            <a:ext cx="4128143" cy="2587496"/>
          </a:xfrm>
          <a:prstGeom prst="rect">
            <a:avLst/>
          </a:prstGeom>
        </p:spPr>
      </p:pic>
    </p:spTree>
    <p:extLst>
      <p:ext uri="{BB962C8B-B14F-4D97-AF65-F5344CB8AC3E}">
        <p14:creationId xmlns:p14="http://schemas.microsoft.com/office/powerpoint/2010/main" val="672140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3DFDF519-5381-D842-958D-B5400E826AE9}"/>
              </a:ext>
            </a:extLst>
          </p:cNvPr>
          <p:cNvPicPr>
            <a:picLocks noChangeAspect="1"/>
          </p:cNvPicPr>
          <p:nvPr/>
        </p:nvPicPr>
        <p:blipFill>
          <a:blip r:embed="rId2"/>
          <a:stretch>
            <a:fillRect/>
          </a:stretch>
        </p:blipFill>
        <p:spPr>
          <a:xfrm>
            <a:off x="1883739" y="0"/>
            <a:ext cx="8424521" cy="2948071"/>
          </a:xfrm>
          <a:prstGeom prst="rect">
            <a:avLst/>
          </a:prstGeom>
        </p:spPr>
      </p:pic>
      <p:sp>
        <p:nvSpPr>
          <p:cNvPr id="6" name="矩形 5">
            <a:extLst>
              <a:ext uri="{FF2B5EF4-FFF2-40B4-BE49-F238E27FC236}">
                <a16:creationId xmlns:a16="http://schemas.microsoft.com/office/drawing/2014/main" id="{1B6B6BFA-E1CB-F041-BD4F-7865C2E48FF8}"/>
              </a:ext>
            </a:extLst>
          </p:cNvPr>
          <p:cNvSpPr/>
          <p:nvPr/>
        </p:nvSpPr>
        <p:spPr>
          <a:xfrm>
            <a:off x="-49233" y="2968809"/>
            <a:ext cx="12241233" cy="1477328"/>
          </a:xfrm>
          <a:prstGeom prst="rect">
            <a:avLst/>
          </a:prstGeom>
        </p:spPr>
        <p:txBody>
          <a:bodyPr wrap="square">
            <a:spAutoFit/>
          </a:bodyPr>
          <a:lstStyle/>
          <a:p>
            <a:r>
              <a:rPr lang="en-US" altLang="zh-TW" dirty="0">
                <a:latin typeface="NimbusRomNo9L"/>
              </a:rPr>
              <a:t>Since the predicted viewpoint is used in projection, the reconstruction network can predict correct 3D models that consistently match the input image only if the </a:t>
            </a:r>
            <a:r>
              <a:rPr lang="en-US" altLang="zh-TW" dirty="0"/>
              <a:t>pose predictions are accurate. Similarly, since the pose network parameters are optimized using projection losses, the predicted pose values will be correct only if the reconstructions are reasonable. In such a situation, the network can collapse to degenerate solutions. </a:t>
            </a:r>
          </a:p>
          <a:p>
            <a:endParaRPr lang="en-US" altLang="zh-TW" dirty="0"/>
          </a:p>
        </p:txBody>
      </p:sp>
      <p:pic>
        <p:nvPicPr>
          <p:cNvPr id="8" name="圖片 7">
            <a:extLst>
              <a:ext uri="{FF2B5EF4-FFF2-40B4-BE49-F238E27FC236}">
                <a16:creationId xmlns:a16="http://schemas.microsoft.com/office/drawing/2014/main" id="{3B4E6E3E-0496-664F-B24E-EA3F8B0FD5F0}"/>
              </a:ext>
            </a:extLst>
          </p:cNvPr>
          <p:cNvPicPr>
            <a:picLocks noChangeAspect="1"/>
          </p:cNvPicPr>
          <p:nvPr/>
        </p:nvPicPr>
        <p:blipFill>
          <a:blip r:embed="rId3"/>
          <a:stretch>
            <a:fillRect/>
          </a:stretch>
        </p:blipFill>
        <p:spPr>
          <a:xfrm>
            <a:off x="0" y="4793876"/>
            <a:ext cx="2082800" cy="825500"/>
          </a:xfrm>
          <a:prstGeom prst="rect">
            <a:avLst/>
          </a:prstGeom>
        </p:spPr>
      </p:pic>
      <p:pic>
        <p:nvPicPr>
          <p:cNvPr id="10" name="圖片 9">
            <a:extLst>
              <a:ext uri="{FF2B5EF4-FFF2-40B4-BE49-F238E27FC236}">
                <a16:creationId xmlns:a16="http://schemas.microsoft.com/office/drawing/2014/main" id="{3B10650E-FFB1-DA41-8675-3AE7492220CF}"/>
              </a:ext>
            </a:extLst>
          </p:cNvPr>
          <p:cNvPicPr>
            <a:picLocks noChangeAspect="1"/>
          </p:cNvPicPr>
          <p:nvPr/>
        </p:nvPicPr>
        <p:blipFill>
          <a:blip r:embed="rId4"/>
          <a:stretch>
            <a:fillRect/>
          </a:stretch>
        </p:blipFill>
        <p:spPr>
          <a:xfrm>
            <a:off x="2666758" y="4971676"/>
            <a:ext cx="2603500" cy="469900"/>
          </a:xfrm>
          <a:prstGeom prst="rect">
            <a:avLst/>
          </a:prstGeom>
        </p:spPr>
      </p:pic>
      <p:sp>
        <p:nvSpPr>
          <p:cNvPr id="11" name="矩形 10">
            <a:extLst>
              <a:ext uri="{FF2B5EF4-FFF2-40B4-BE49-F238E27FC236}">
                <a16:creationId xmlns:a16="http://schemas.microsoft.com/office/drawing/2014/main" id="{568EBE0F-16FC-7645-A463-5E690B43C52B}"/>
              </a:ext>
            </a:extLst>
          </p:cNvPr>
          <p:cNvSpPr/>
          <p:nvPr/>
        </p:nvSpPr>
        <p:spPr>
          <a:xfrm>
            <a:off x="0" y="5637353"/>
            <a:ext cx="6208687" cy="369332"/>
          </a:xfrm>
          <a:prstGeom prst="rect">
            <a:avLst/>
          </a:prstGeom>
        </p:spPr>
        <p:txBody>
          <a:bodyPr wrap="none">
            <a:spAutoFit/>
          </a:bodyPr>
          <a:lstStyle/>
          <a:p>
            <a:r>
              <a:rPr lang="en-US" altLang="zh-TW" dirty="0" err="1">
                <a:latin typeface="NimbusRomNo9L"/>
              </a:rPr>
              <a:t>d</a:t>
            </a:r>
            <a:r>
              <a:rPr lang="en-US" altLang="zh-TW" sz="800" dirty="0" err="1">
                <a:effectLst/>
                <a:latin typeface="NimbusRomNo9L"/>
              </a:rPr>
              <a:t>Ch</a:t>
            </a:r>
            <a:r>
              <a:rPr lang="en-US" altLang="zh-TW" dirty="0">
                <a:latin typeface="CMR10"/>
              </a:rPr>
              <a:t>(</a:t>
            </a:r>
            <a:r>
              <a:rPr lang="en-US" altLang="zh-TW" dirty="0">
                <a:latin typeface="CMSY10"/>
              </a:rPr>
              <a:t>·</a:t>
            </a:r>
            <a:r>
              <a:rPr lang="en-US" altLang="zh-TW" dirty="0">
                <a:latin typeface="CMMI10"/>
              </a:rPr>
              <a:t>,</a:t>
            </a:r>
            <a:r>
              <a:rPr lang="en-US" altLang="zh-TW" dirty="0">
                <a:latin typeface="CMSY10"/>
              </a:rPr>
              <a:t>·</a:t>
            </a:r>
            <a:r>
              <a:rPr lang="en-US" altLang="zh-TW" dirty="0">
                <a:latin typeface="CMR10"/>
              </a:rPr>
              <a:t>) </a:t>
            </a:r>
            <a:r>
              <a:rPr lang="en-US" altLang="zh-TW" dirty="0">
                <a:latin typeface="NimbusRomNo9L"/>
              </a:rPr>
              <a:t>denotes the Chamfer distance between two point clouds. </a:t>
            </a:r>
            <a:endParaRPr lang="en-US" altLang="zh-TW" dirty="0"/>
          </a:p>
        </p:txBody>
      </p:sp>
      <p:sp>
        <p:nvSpPr>
          <p:cNvPr id="12" name="矩形 11">
            <a:extLst>
              <a:ext uri="{FF2B5EF4-FFF2-40B4-BE49-F238E27FC236}">
                <a16:creationId xmlns:a16="http://schemas.microsoft.com/office/drawing/2014/main" id="{BB293156-E1DB-7E4A-97C2-7EAC89E4497A}"/>
              </a:ext>
            </a:extLst>
          </p:cNvPr>
          <p:cNvSpPr/>
          <p:nvPr/>
        </p:nvSpPr>
        <p:spPr>
          <a:xfrm>
            <a:off x="0" y="4362605"/>
            <a:ext cx="3386248" cy="369332"/>
          </a:xfrm>
          <a:prstGeom prst="rect">
            <a:avLst/>
          </a:prstGeom>
        </p:spPr>
        <p:txBody>
          <a:bodyPr wrap="none">
            <a:spAutoFit/>
          </a:bodyPr>
          <a:lstStyle/>
          <a:p>
            <a:r>
              <a:rPr lang="en-US" altLang="zh-TW" dirty="0"/>
              <a:t>Geometric Cycle Consistency Loss </a:t>
            </a:r>
          </a:p>
        </p:txBody>
      </p:sp>
      <p:sp>
        <p:nvSpPr>
          <p:cNvPr id="13" name="矩形 12">
            <a:extLst>
              <a:ext uri="{FF2B5EF4-FFF2-40B4-BE49-F238E27FC236}">
                <a16:creationId xmlns:a16="http://schemas.microsoft.com/office/drawing/2014/main" id="{DFA3599F-D82F-6C4F-AD86-93EFC6E8E9AD}"/>
              </a:ext>
            </a:extLst>
          </p:cNvPr>
          <p:cNvSpPr/>
          <p:nvPr/>
        </p:nvSpPr>
        <p:spPr>
          <a:xfrm>
            <a:off x="6071383" y="4457248"/>
            <a:ext cx="2837828" cy="369332"/>
          </a:xfrm>
          <a:prstGeom prst="rect">
            <a:avLst/>
          </a:prstGeom>
        </p:spPr>
        <p:txBody>
          <a:bodyPr wrap="none">
            <a:spAutoFit/>
          </a:bodyPr>
          <a:lstStyle/>
          <a:p>
            <a:r>
              <a:rPr lang="en-US" altLang="zh-TW" dirty="0">
                <a:latin typeface="NimbusRomNo9L"/>
              </a:rPr>
              <a:t>Pose Cycle Consistency Loss </a:t>
            </a:r>
            <a:endParaRPr lang="en-US" altLang="zh-TW" dirty="0"/>
          </a:p>
        </p:txBody>
      </p:sp>
      <p:pic>
        <p:nvPicPr>
          <p:cNvPr id="15" name="圖片 14">
            <a:extLst>
              <a:ext uri="{FF2B5EF4-FFF2-40B4-BE49-F238E27FC236}">
                <a16:creationId xmlns:a16="http://schemas.microsoft.com/office/drawing/2014/main" id="{6192181E-4130-1A41-A805-361D7E34DB13}"/>
              </a:ext>
            </a:extLst>
          </p:cNvPr>
          <p:cNvPicPr>
            <a:picLocks noChangeAspect="1"/>
          </p:cNvPicPr>
          <p:nvPr/>
        </p:nvPicPr>
        <p:blipFill>
          <a:blip r:embed="rId5"/>
          <a:stretch>
            <a:fillRect/>
          </a:stretch>
        </p:blipFill>
        <p:spPr>
          <a:xfrm>
            <a:off x="6508911" y="4793817"/>
            <a:ext cx="2400300" cy="876300"/>
          </a:xfrm>
          <a:prstGeom prst="rect">
            <a:avLst/>
          </a:prstGeom>
        </p:spPr>
      </p:pic>
      <p:pic>
        <p:nvPicPr>
          <p:cNvPr id="16" name="圖片 15">
            <a:extLst>
              <a:ext uri="{FF2B5EF4-FFF2-40B4-BE49-F238E27FC236}">
                <a16:creationId xmlns:a16="http://schemas.microsoft.com/office/drawing/2014/main" id="{6F1210B7-70C5-7E41-BE67-F8F8578AA33A}"/>
              </a:ext>
            </a:extLst>
          </p:cNvPr>
          <p:cNvPicPr>
            <a:picLocks noChangeAspect="1"/>
          </p:cNvPicPr>
          <p:nvPr/>
        </p:nvPicPr>
        <p:blipFill>
          <a:blip r:embed="rId6"/>
          <a:stretch>
            <a:fillRect/>
          </a:stretch>
        </p:blipFill>
        <p:spPr>
          <a:xfrm>
            <a:off x="9209435" y="4946896"/>
            <a:ext cx="2654300" cy="469900"/>
          </a:xfrm>
          <a:prstGeom prst="rect">
            <a:avLst/>
          </a:prstGeom>
        </p:spPr>
      </p:pic>
    </p:spTree>
    <p:extLst>
      <p:ext uri="{BB962C8B-B14F-4D97-AF65-F5344CB8AC3E}">
        <p14:creationId xmlns:p14="http://schemas.microsoft.com/office/powerpoint/2010/main" val="2988531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F785827D-0E14-B344-86DC-06060D03C794}"/>
              </a:ext>
            </a:extLst>
          </p:cNvPr>
          <p:cNvPicPr>
            <a:picLocks noChangeAspect="1"/>
          </p:cNvPicPr>
          <p:nvPr/>
        </p:nvPicPr>
        <p:blipFill>
          <a:blip r:embed="rId2"/>
          <a:stretch>
            <a:fillRect/>
          </a:stretch>
        </p:blipFill>
        <p:spPr>
          <a:xfrm>
            <a:off x="1883739" y="0"/>
            <a:ext cx="8424521" cy="2948071"/>
          </a:xfrm>
          <a:prstGeom prst="rect">
            <a:avLst/>
          </a:prstGeom>
        </p:spPr>
      </p:pic>
      <p:sp>
        <p:nvSpPr>
          <p:cNvPr id="5" name="矩形 4">
            <a:extLst>
              <a:ext uri="{FF2B5EF4-FFF2-40B4-BE49-F238E27FC236}">
                <a16:creationId xmlns:a16="http://schemas.microsoft.com/office/drawing/2014/main" id="{BDAA42AC-0F20-D945-8A24-64E5D860A921}"/>
              </a:ext>
            </a:extLst>
          </p:cNvPr>
          <p:cNvSpPr/>
          <p:nvPr/>
        </p:nvSpPr>
        <p:spPr>
          <a:xfrm>
            <a:off x="-1" y="3105834"/>
            <a:ext cx="11065397" cy="1200329"/>
          </a:xfrm>
          <a:prstGeom prst="rect">
            <a:avLst/>
          </a:prstGeom>
        </p:spPr>
        <p:txBody>
          <a:bodyPr wrap="square">
            <a:spAutoFit/>
          </a:bodyPr>
          <a:lstStyle/>
          <a:p>
            <a:r>
              <a:rPr lang="en-US" altLang="zh-TW" dirty="0"/>
              <a:t>Nearest </a:t>
            </a:r>
            <a:r>
              <a:rPr lang="en-US" altLang="zh-TW" dirty="0" err="1"/>
              <a:t>Neighbours</a:t>
            </a:r>
            <a:r>
              <a:rPr lang="en-US" altLang="zh-TW" dirty="0"/>
              <a:t> Consistency Loss </a:t>
            </a:r>
            <a:endParaRPr lang="en-US" altLang="zh-TW" dirty="0">
              <a:latin typeface="NimbusRomNo9L"/>
            </a:endParaRPr>
          </a:p>
          <a:p>
            <a:r>
              <a:rPr lang="en-US" altLang="zh-TW" dirty="0">
                <a:latin typeface="NimbusRomNo9L"/>
              </a:rPr>
              <a:t>	During training, nearest </a:t>
            </a:r>
            <a:r>
              <a:rPr lang="en-US" altLang="zh-TW" dirty="0" err="1">
                <a:latin typeface="NimbusRomNo9L"/>
              </a:rPr>
              <a:t>neighbours</a:t>
            </a:r>
            <a:r>
              <a:rPr lang="en-US" altLang="zh-TW" dirty="0">
                <a:latin typeface="NimbusRomNo9L"/>
              </a:rPr>
              <a:t> of the input image are utilized as additional supervision.</a:t>
            </a:r>
            <a:r>
              <a:rPr lang="zh-CN" altLang="en-US" dirty="0">
                <a:latin typeface="NimbusRomNo9L"/>
              </a:rPr>
              <a:t> </a:t>
            </a:r>
            <a:r>
              <a:rPr lang="en-US" altLang="zh-TW" dirty="0"/>
              <a:t>The </a:t>
            </a:r>
            <a:r>
              <a:rPr lang="en-US" altLang="zh-TW" dirty="0" err="1"/>
              <a:t>neighbour</a:t>
            </a:r>
            <a:r>
              <a:rPr lang="en-US" altLang="zh-TW" dirty="0"/>
              <a:t> images are passed through </a:t>
            </a:r>
            <a:r>
              <a:rPr lang="en-US" altLang="zh-TW" dirty="0" err="1"/>
              <a:t>Npose</a:t>
            </a:r>
            <a:r>
              <a:rPr lang="en-US" altLang="zh-TW" dirty="0"/>
              <a:t> to obtain the corresponding poses. </a:t>
            </a:r>
          </a:p>
          <a:p>
            <a:r>
              <a:rPr lang="en-US" altLang="zh-TW" dirty="0">
                <a:latin typeface="NimbusRomNo9L"/>
              </a:rPr>
              <a:t> </a:t>
            </a:r>
            <a:endParaRPr lang="en-US" altLang="zh-TW" dirty="0"/>
          </a:p>
        </p:txBody>
      </p:sp>
      <p:pic>
        <p:nvPicPr>
          <p:cNvPr id="6" name="圖片 5">
            <a:extLst>
              <a:ext uri="{FF2B5EF4-FFF2-40B4-BE49-F238E27FC236}">
                <a16:creationId xmlns:a16="http://schemas.microsoft.com/office/drawing/2014/main" id="{A4CEAE58-FA3F-0B44-A6FE-7211531C19D3}"/>
              </a:ext>
            </a:extLst>
          </p:cNvPr>
          <p:cNvPicPr>
            <a:picLocks noChangeAspect="1"/>
          </p:cNvPicPr>
          <p:nvPr/>
        </p:nvPicPr>
        <p:blipFill>
          <a:blip r:embed="rId3"/>
          <a:stretch>
            <a:fillRect/>
          </a:stretch>
        </p:blipFill>
        <p:spPr>
          <a:xfrm>
            <a:off x="1147139" y="3918813"/>
            <a:ext cx="1473200" cy="774700"/>
          </a:xfrm>
          <a:prstGeom prst="rect">
            <a:avLst/>
          </a:prstGeom>
        </p:spPr>
      </p:pic>
      <p:sp>
        <p:nvSpPr>
          <p:cNvPr id="7" name="矩形 6">
            <a:extLst>
              <a:ext uri="{FF2B5EF4-FFF2-40B4-BE49-F238E27FC236}">
                <a16:creationId xmlns:a16="http://schemas.microsoft.com/office/drawing/2014/main" id="{24E775A9-7B89-4547-A777-C0DC4CE7A16C}"/>
              </a:ext>
            </a:extLst>
          </p:cNvPr>
          <p:cNvSpPr/>
          <p:nvPr/>
        </p:nvSpPr>
        <p:spPr>
          <a:xfrm>
            <a:off x="0" y="4508847"/>
            <a:ext cx="11197361" cy="1200329"/>
          </a:xfrm>
          <a:prstGeom prst="rect">
            <a:avLst/>
          </a:prstGeom>
        </p:spPr>
        <p:txBody>
          <a:bodyPr wrap="none">
            <a:spAutoFit/>
          </a:bodyPr>
          <a:lstStyle/>
          <a:p>
            <a:r>
              <a:rPr lang="en-US" altLang="zh-TW" dirty="0">
                <a:latin typeface="NimbusRomNo9L"/>
              </a:rPr>
              <a:t>Symmetry Loss</a:t>
            </a:r>
          </a:p>
          <a:p>
            <a:r>
              <a:rPr lang="en-US" altLang="zh-TW" dirty="0">
                <a:latin typeface="NimbusRomNo9L"/>
              </a:rPr>
              <a:t>	</a:t>
            </a:r>
            <a:r>
              <a:rPr lang="en-US" altLang="zh-TW" dirty="0"/>
              <a:t>Since all the object categories we consider in our experiments have a minimum of one plane of symmetry, </a:t>
            </a:r>
          </a:p>
          <a:p>
            <a:r>
              <a:rPr lang="en-US" altLang="zh-TW" dirty="0"/>
              <a:t>we further regularize the network to obtain symmetric reconstructions with respect to a pre-defined plane. </a:t>
            </a:r>
          </a:p>
          <a:p>
            <a:r>
              <a:rPr lang="en-US" altLang="zh-TW" dirty="0">
                <a:latin typeface="NimbusRomNo9L"/>
              </a:rPr>
              <a:t> </a:t>
            </a:r>
            <a:endParaRPr lang="en-US" altLang="zh-TW" dirty="0"/>
          </a:p>
        </p:txBody>
      </p:sp>
      <p:pic>
        <p:nvPicPr>
          <p:cNvPr id="8" name="圖片 7">
            <a:extLst>
              <a:ext uri="{FF2B5EF4-FFF2-40B4-BE49-F238E27FC236}">
                <a16:creationId xmlns:a16="http://schemas.microsoft.com/office/drawing/2014/main" id="{EBA02EF7-ADD8-7F4B-9A2B-8EB59B088B56}"/>
              </a:ext>
            </a:extLst>
          </p:cNvPr>
          <p:cNvPicPr>
            <a:picLocks noChangeAspect="1"/>
          </p:cNvPicPr>
          <p:nvPr/>
        </p:nvPicPr>
        <p:blipFill>
          <a:blip r:embed="rId4"/>
          <a:stretch>
            <a:fillRect/>
          </a:stretch>
        </p:blipFill>
        <p:spPr>
          <a:xfrm>
            <a:off x="1147139" y="5395176"/>
            <a:ext cx="1854200" cy="571500"/>
          </a:xfrm>
          <a:prstGeom prst="rect">
            <a:avLst/>
          </a:prstGeom>
        </p:spPr>
      </p:pic>
      <p:pic>
        <p:nvPicPr>
          <p:cNvPr id="9" name="圖片 8">
            <a:extLst>
              <a:ext uri="{FF2B5EF4-FFF2-40B4-BE49-F238E27FC236}">
                <a16:creationId xmlns:a16="http://schemas.microsoft.com/office/drawing/2014/main" id="{7A594B3B-D30E-3348-92BD-DC60948CA6A1}"/>
              </a:ext>
            </a:extLst>
          </p:cNvPr>
          <p:cNvPicPr>
            <a:picLocks noChangeAspect="1"/>
          </p:cNvPicPr>
          <p:nvPr/>
        </p:nvPicPr>
        <p:blipFill>
          <a:blip r:embed="rId5"/>
          <a:stretch>
            <a:fillRect/>
          </a:stretch>
        </p:blipFill>
        <p:spPr>
          <a:xfrm>
            <a:off x="3579380" y="5395176"/>
            <a:ext cx="4038600" cy="482600"/>
          </a:xfrm>
          <a:prstGeom prst="rect">
            <a:avLst/>
          </a:prstGeom>
        </p:spPr>
      </p:pic>
      <p:sp>
        <p:nvSpPr>
          <p:cNvPr id="10" name="矩形 9">
            <a:extLst>
              <a:ext uri="{FF2B5EF4-FFF2-40B4-BE49-F238E27FC236}">
                <a16:creationId xmlns:a16="http://schemas.microsoft.com/office/drawing/2014/main" id="{E0C2329F-0738-A440-B6ED-C76F018A4E30}"/>
              </a:ext>
            </a:extLst>
          </p:cNvPr>
          <p:cNvSpPr/>
          <p:nvPr/>
        </p:nvSpPr>
        <p:spPr>
          <a:xfrm>
            <a:off x="49312" y="5877776"/>
            <a:ext cx="11205888" cy="1200329"/>
          </a:xfrm>
          <a:prstGeom prst="rect">
            <a:avLst/>
          </a:prstGeom>
        </p:spPr>
        <p:txBody>
          <a:bodyPr wrap="none">
            <a:spAutoFit/>
          </a:bodyPr>
          <a:lstStyle/>
          <a:p>
            <a:r>
              <a:rPr lang="en-US" altLang="zh-TW" dirty="0">
                <a:latin typeface="NimbusRomNo9L"/>
              </a:rPr>
              <a:t>Inference Stage Optimization</a:t>
            </a:r>
          </a:p>
          <a:p>
            <a:r>
              <a:rPr lang="en-US" altLang="zh-TW" dirty="0">
                <a:latin typeface="NimbusRomNo9L"/>
              </a:rPr>
              <a:t>	</a:t>
            </a:r>
            <a:r>
              <a:rPr lang="en-US" altLang="zh-TW" dirty="0"/>
              <a:t>To ensure that the reconstructions are not degraded in the regions occluded in the input image, we employ </a:t>
            </a:r>
          </a:p>
          <a:p>
            <a:r>
              <a:rPr lang="en-US" altLang="zh-TW" dirty="0"/>
              <a:t>additional regularization. </a:t>
            </a:r>
          </a:p>
          <a:p>
            <a:r>
              <a:rPr lang="en-US" altLang="zh-TW" dirty="0">
                <a:latin typeface="NimbusRomNo9L"/>
              </a:rPr>
              <a:t> </a:t>
            </a:r>
            <a:endParaRPr lang="en-US" altLang="zh-TW" dirty="0"/>
          </a:p>
        </p:txBody>
      </p:sp>
      <p:pic>
        <p:nvPicPr>
          <p:cNvPr id="12" name="圖片 11">
            <a:extLst>
              <a:ext uri="{FF2B5EF4-FFF2-40B4-BE49-F238E27FC236}">
                <a16:creationId xmlns:a16="http://schemas.microsoft.com/office/drawing/2014/main" id="{206EA5A8-BF4B-A14C-B843-D4EC6C88BA24}"/>
              </a:ext>
            </a:extLst>
          </p:cNvPr>
          <p:cNvPicPr>
            <a:picLocks noChangeAspect="1"/>
          </p:cNvPicPr>
          <p:nvPr/>
        </p:nvPicPr>
        <p:blipFill>
          <a:blip r:embed="rId6"/>
          <a:stretch>
            <a:fillRect/>
          </a:stretch>
        </p:blipFill>
        <p:spPr>
          <a:xfrm>
            <a:off x="2620339" y="6477940"/>
            <a:ext cx="1689100" cy="342900"/>
          </a:xfrm>
          <a:prstGeom prst="rect">
            <a:avLst/>
          </a:prstGeom>
        </p:spPr>
      </p:pic>
      <p:pic>
        <p:nvPicPr>
          <p:cNvPr id="14" name="圖片 13">
            <a:extLst>
              <a:ext uri="{FF2B5EF4-FFF2-40B4-BE49-F238E27FC236}">
                <a16:creationId xmlns:a16="http://schemas.microsoft.com/office/drawing/2014/main" id="{9F31AC17-57B8-0543-9F7E-80E6761F595A}"/>
              </a:ext>
            </a:extLst>
          </p:cNvPr>
          <p:cNvPicPr>
            <a:picLocks noChangeAspect="1"/>
          </p:cNvPicPr>
          <p:nvPr/>
        </p:nvPicPr>
        <p:blipFill>
          <a:blip r:embed="rId7"/>
          <a:stretch>
            <a:fillRect/>
          </a:stretch>
        </p:blipFill>
        <p:spPr>
          <a:xfrm>
            <a:off x="4463247" y="6446190"/>
            <a:ext cx="3543300" cy="406400"/>
          </a:xfrm>
          <a:prstGeom prst="rect">
            <a:avLst/>
          </a:prstGeom>
        </p:spPr>
      </p:pic>
    </p:spTree>
    <p:extLst>
      <p:ext uri="{BB962C8B-B14F-4D97-AF65-F5344CB8AC3E}">
        <p14:creationId xmlns:p14="http://schemas.microsoft.com/office/powerpoint/2010/main" val="378926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B35943-3BD1-224C-AFE1-DA9C95A0BC86}"/>
              </a:ext>
            </a:extLst>
          </p:cNvPr>
          <p:cNvSpPr>
            <a:spLocks noGrp="1"/>
          </p:cNvSpPr>
          <p:nvPr>
            <p:ph type="title"/>
          </p:nvPr>
        </p:nvSpPr>
        <p:spPr>
          <a:xfrm>
            <a:off x="0" y="18255"/>
            <a:ext cx="10515600" cy="1325563"/>
          </a:xfrm>
        </p:spPr>
        <p:txBody>
          <a:bodyPr/>
          <a:lstStyle/>
          <a:p>
            <a:r>
              <a:rPr kumimoji="1" lang="en-US" altLang="zh-TW" dirty="0"/>
              <a:t>Result</a:t>
            </a:r>
            <a:endParaRPr kumimoji="1" lang="zh-TW" altLang="en-US" dirty="0"/>
          </a:p>
        </p:txBody>
      </p:sp>
      <p:pic>
        <p:nvPicPr>
          <p:cNvPr id="5" name="圖片 4">
            <a:extLst>
              <a:ext uri="{FF2B5EF4-FFF2-40B4-BE49-F238E27FC236}">
                <a16:creationId xmlns:a16="http://schemas.microsoft.com/office/drawing/2014/main" id="{DE68889C-F2A9-5242-80D5-78BE9477EE16}"/>
              </a:ext>
            </a:extLst>
          </p:cNvPr>
          <p:cNvPicPr>
            <a:picLocks noChangeAspect="1"/>
          </p:cNvPicPr>
          <p:nvPr/>
        </p:nvPicPr>
        <p:blipFill>
          <a:blip r:embed="rId2"/>
          <a:stretch>
            <a:fillRect/>
          </a:stretch>
        </p:blipFill>
        <p:spPr>
          <a:xfrm>
            <a:off x="819150" y="1511300"/>
            <a:ext cx="10553700" cy="3835400"/>
          </a:xfrm>
          <a:prstGeom prst="rect">
            <a:avLst/>
          </a:prstGeom>
        </p:spPr>
      </p:pic>
    </p:spTree>
    <p:extLst>
      <p:ext uri="{BB962C8B-B14F-4D97-AF65-F5344CB8AC3E}">
        <p14:creationId xmlns:p14="http://schemas.microsoft.com/office/powerpoint/2010/main" val="4170342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8AB56C-C6CF-8E4E-A1E8-3C653BB0C7A6}"/>
              </a:ext>
            </a:extLst>
          </p:cNvPr>
          <p:cNvSpPr>
            <a:spLocks noGrp="1"/>
          </p:cNvSpPr>
          <p:nvPr>
            <p:ph type="title"/>
          </p:nvPr>
        </p:nvSpPr>
        <p:spPr>
          <a:xfrm>
            <a:off x="0" y="18255"/>
            <a:ext cx="12192000" cy="1325563"/>
          </a:xfrm>
        </p:spPr>
        <p:txBody>
          <a:bodyPr/>
          <a:lstStyle/>
          <a:p>
            <a:r>
              <a:rPr lang="en-US" altLang="zh-TW" dirty="0"/>
              <a:t>Self-Supervised Learning of Video-Induced Visual Invariances</a:t>
            </a:r>
            <a:endParaRPr kumimoji="1" lang="zh-TW" altLang="en-US" dirty="0"/>
          </a:p>
        </p:txBody>
      </p:sp>
      <p:sp>
        <p:nvSpPr>
          <p:cNvPr id="3" name="內容版面配置區 2">
            <a:extLst>
              <a:ext uri="{FF2B5EF4-FFF2-40B4-BE49-F238E27FC236}">
                <a16:creationId xmlns:a16="http://schemas.microsoft.com/office/drawing/2014/main" id="{AFDC7D23-8CC9-AE43-A6CB-D049D81466E3}"/>
              </a:ext>
            </a:extLst>
          </p:cNvPr>
          <p:cNvSpPr>
            <a:spLocks noGrp="1"/>
          </p:cNvSpPr>
          <p:nvPr>
            <p:ph idx="1"/>
          </p:nvPr>
        </p:nvSpPr>
        <p:spPr>
          <a:xfrm>
            <a:off x="-1" y="1527859"/>
            <a:ext cx="12191999" cy="1990846"/>
          </a:xfrm>
        </p:spPr>
        <p:txBody>
          <a:bodyPr/>
          <a:lstStyle/>
          <a:p>
            <a:r>
              <a:rPr kumimoji="1" lang="en-US" altLang="zh-TW" dirty="0"/>
              <a:t>Video-Induced Visual Invariances</a:t>
            </a:r>
          </a:p>
          <a:p>
            <a:pPr lvl="1"/>
            <a:r>
              <a:rPr lang="en-US" altLang="zh-TW" i="1" dirty="0"/>
              <a:t>(</a:t>
            </a:r>
            <a:r>
              <a:rPr lang="en-US" altLang="zh-TW" i="1" dirty="0" err="1"/>
              <a:t>i</a:t>
            </a:r>
            <a:r>
              <a:rPr lang="en-US" altLang="zh-TW" i="1" dirty="0"/>
              <a:t>) frame-level invariances (e.g. stability to color and contrast perturbations)</a:t>
            </a:r>
          </a:p>
          <a:p>
            <a:pPr lvl="1"/>
            <a:r>
              <a:rPr lang="en-US" altLang="zh-TW" i="1" dirty="0"/>
              <a:t>(ii) shot/clip-level invariances (e.g. robustness to changes in object orientation and lighting conditions) </a:t>
            </a:r>
          </a:p>
          <a:p>
            <a:pPr lvl="1"/>
            <a:r>
              <a:rPr lang="en-US" altLang="zh-TW" i="1" dirty="0"/>
              <a:t>(iii) video-level invariances (semantic relation- ships of scenes across shots/clips)</a:t>
            </a:r>
            <a:endParaRPr lang="en-US" altLang="zh-TW" dirty="0"/>
          </a:p>
          <a:p>
            <a:pPr lvl="1"/>
            <a:endParaRPr kumimoji="1" lang="zh-TW" altLang="en-US" dirty="0"/>
          </a:p>
        </p:txBody>
      </p:sp>
    </p:spTree>
    <p:extLst>
      <p:ext uri="{BB962C8B-B14F-4D97-AF65-F5344CB8AC3E}">
        <p14:creationId xmlns:p14="http://schemas.microsoft.com/office/powerpoint/2010/main" val="2134176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3467B0-3C4B-054A-8B31-E29CAE937724}"/>
              </a:ext>
            </a:extLst>
          </p:cNvPr>
          <p:cNvSpPr>
            <a:spLocks noGrp="1"/>
          </p:cNvSpPr>
          <p:nvPr>
            <p:ph type="title"/>
          </p:nvPr>
        </p:nvSpPr>
        <p:spPr>
          <a:xfrm>
            <a:off x="0" y="18255"/>
            <a:ext cx="10515600" cy="1325563"/>
          </a:xfrm>
        </p:spPr>
        <p:txBody>
          <a:bodyPr/>
          <a:lstStyle/>
          <a:p>
            <a:r>
              <a:rPr kumimoji="1" lang="en-US" altLang="zh-TW" dirty="0"/>
              <a:t>Overview</a:t>
            </a:r>
            <a:endParaRPr kumimoji="1" lang="zh-TW" altLang="en-US" dirty="0"/>
          </a:p>
        </p:txBody>
      </p:sp>
      <p:pic>
        <p:nvPicPr>
          <p:cNvPr id="4" name="圖片 3">
            <a:extLst>
              <a:ext uri="{FF2B5EF4-FFF2-40B4-BE49-F238E27FC236}">
                <a16:creationId xmlns:a16="http://schemas.microsoft.com/office/drawing/2014/main" id="{8F09FBC5-8D38-C74B-950C-5420A26115EC}"/>
              </a:ext>
            </a:extLst>
          </p:cNvPr>
          <p:cNvPicPr>
            <a:picLocks noChangeAspect="1"/>
          </p:cNvPicPr>
          <p:nvPr/>
        </p:nvPicPr>
        <p:blipFill>
          <a:blip r:embed="rId2"/>
          <a:stretch>
            <a:fillRect/>
          </a:stretch>
        </p:blipFill>
        <p:spPr>
          <a:xfrm>
            <a:off x="2955716" y="18255"/>
            <a:ext cx="9028253" cy="3205557"/>
          </a:xfrm>
          <a:prstGeom prst="rect">
            <a:avLst/>
          </a:prstGeom>
        </p:spPr>
      </p:pic>
      <p:sp>
        <p:nvSpPr>
          <p:cNvPr id="5" name="矩形 4">
            <a:extLst>
              <a:ext uri="{FF2B5EF4-FFF2-40B4-BE49-F238E27FC236}">
                <a16:creationId xmlns:a16="http://schemas.microsoft.com/office/drawing/2014/main" id="{2D1E839D-51A8-F94B-9342-0D456BE17AC1}"/>
              </a:ext>
            </a:extLst>
          </p:cNvPr>
          <p:cNvSpPr/>
          <p:nvPr/>
        </p:nvSpPr>
        <p:spPr>
          <a:xfrm>
            <a:off x="173436" y="3311023"/>
            <a:ext cx="11791555" cy="1200329"/>
          </a:xfrm>
          <a:prstGeom prst="rect">
            <a:avLst/>
          </a:prstGeom>
        </p:spPr>
        <p:txBody>
          <a:bodyPr wrap="square">
            <a:spAutoFit/>
          </a:bodyPr>
          <a:lstStyle/>
          <a:p>
            <a:r>
              <a:rPr lang="en-US" altLang="zh-TW" dirty="0">
                <a:latin typeface="NimbusRomNo9L"/>
              </a:rPr>
              <a:t>a frame-</a:t>
            </a:r>
            <a:r>
              <a:rPr lang="en-US" altLang="zh-TW" dirty="0"/>
              <a:t>encoder f, a frame embedding pooling function p, and one or multiple shot-level prediction functions gm</a:t>
            </a:r>
          </a:p>
          <a:p>
            <a:r>
              <a:rPr lang="en-US" altLang="zh-TW" dirty="0"/>
              <a:t>Shot-level prediction functions are trained to predict pretext (label-free) targets from shot embeddings. </a:t>
            </a:r>
          </a:p>
          <a:p>
            <a:r>
              <a:rPr lang="en-US" altLang="zh-TW" dirty="0"/>
              <a:t> </a:t>
            </a:r>
          </a:p>
          <a:p>
            <a:r>
              <a:rPr lang="en-US" altLang="zh-TW" dirty="0">
                <a:latin typeface="NimbusRomNo9L"/>
              </a:rPr>
              <a:t> </a:t>
            </a:r>
            <a:endParaRPr lang="en-US" altLang="zh-TW" dirty="0"/>
          </a:p>
        </p:txBody>
      </p:sp>
      <p:pic>
        <p:nvPicPr>
          <p:cNvPr id="7" name="圖片 6">
            <a:extLst>
              <a:ext uri="{FF2B5EF4-FFF2-40B4-BE49-F238E27FC236}">
                <a16:creationId xmlns:a16="http://schemas.microsoft.com/office/drawing/2014/main" id="{FEEB1E0E-9E5E-8B49-B3D3-885940C02E75}"/>
              </a:ext>
            </a:extLst>
          </p:cNvPr>
          <p:cNvPicPr>
            <a:picLocks noChangeAspect="1"/>
          </p:cNvPicPr>
          <p:nvPr/>
        </p:nvPicPr>
        <p:blipFill>
          <a:blip r:embed="rId3"/>
          <a:stretch>
            <a:fillRect/>
          </a:stretch>
        </p:blipFill>
        <p:spPr>
          <a:xfrm>
            <a:off x="173436" y="3929978"/>
            <a:ext cx="2755900" cy="533400"/>
          </a:xfrm>
          <a:prstGeom prst="rect">
            <a:avLst/>
          </a:prstGeom>
        </p:spPr>
      </p:pic>
      <p:sp>
        <p:nvSpPr>
          <p:cNvPr id="8" name="矩形 7">
            <a:extLst>
              <a:ext uri="{FF2B5EF4-FFF2-40B4-BE49-F238E27FC236}">
                <a16:creationId xmlns:a16="http://schemas.microsoft.com/office/drawing/2014/main" id="{667705AE-D02F-DA48-8362-D26B305A1072}"/>
              </a:ext>
            </a:extLst>
          </p:cNvPr>
          <p:cNvSpPr/>
          <p:nvPr/>
        </p:nvSpPr>
        <p:spPr>
          <a:xfrm>
            <a:off x="173436" y="4502374"/>
            <a:ext cx="7627901" cy="646331"/>
          </a:xfrm>
          <a:prstGeom prst="rect">
            <a:avLst/>
          </a:prstGeom>
        </p:spPr>
        <p:txBody>
          <a:bodyPr wrap="square">
            <a:spAutoFit/>
          </a:bodyPr>
          <a:lstStyle/>
          <a:p>
            <a:r>
              <a:rPr lang="en-US" altLang="zh-TW" dirty="0">
                <a:latin typeface="NimbusRomNo9L"/>
              </a:rPr>
              <a:t>the frame/shot-level loss, </a:t>
            </a:r>
            <a:r>
              <a:rPr lang="en-US" altLang="zh-TW" dirty="0"/>
              <a:t>where y are shot-level pretext labels </a:t>
            </a:r>
          </a:p>
          <a:p>
            <a:r>
              <a:rPr lang="en-US" altLang="zh-TW" dirty="0">
                <a:latin typeface="NimbusRomNo9L"/>
              </a:rPr>
              <a:t> </a:t>
            </a:r>
            <a:endParaRPr lang="en-US" altLang="zh-TW" dirty="0"/>
          </a:p>
        </p:txBody>
      </p:sp>
      <p:pic>
        <p:nvPicPr>
          <p:cNvPr id="9" name="圖片 8">
            <a:extLst>
              <a:ext uri="{FF2B5EF4-FFF2-40B4-BE49-F238E27FC236}">
                <a16:creationId xmlns:a16="http://schemas.microsoft.com/office/drawing/2014/main" id="{C1E06218-6AE9-A443-844D-EDA389350ECA}"/>
              </a:ext>
            </a:extLst>
          </p:cNvPr>
          <p:cNvPicPr>
            <a:picLocks noChangeAspect="1"/>
          </p:cNvPicPr>
          <p:nvPr/>
        </p:nvPicPr>
        <p:blipFill>
          <a:blip r:embed="rId4"/>
          <a:stretch>
            <a:fillRect/>
          </a:stretch>
        </p:blipFill>
        <p:spPr>
          <a:xfrm>
            <a:off x="173436" y="4879796"/>
            <a:ext cx="4495800" cy="622300"/>
          </a:xfrm>
          <a:prstGeom prst="rect">
            <a:avLst/>
          </a:prstGeom>
        </p:spPr>
      </p:pic>
      <p:sp>
        <p:nvSpPr>
          <p:cNvPr id="10" name="矩形 9">
            <a:extLst>
              <a:ext uri="{FF2B5EF4-FFF2-40B4-BE49-F238E27FC236}">
                <a16:creationId xmlns:a16="http://schemas.microsoft.com/office/drawing/2014/main" id="{A456B25B-63B2-044C-86F9-FC19BBC90346}"/>
              </a:ext>
            </a:extLst>
          </p:cNvPr>
          <p:cNvSpPr/>
          <p:nvPr/>
        </p:nvSpPr>
        <p:spPr>
          <a:xfrm>
            <a:off x="173436" y="5470063"/>
            <a:ext cx="8704346" cy="646331"/>
          </a:xfrm>
          <a:prstGeom prst="rect">
            <a:avLst/>
          </a:prstGeom>
        </p:spPr>
        <p:txBody>
          <a:bodyPr wrap="square">
            <a:spAutoFit/>
          </a:bodyPr>
          <a:lstStyle/>
          <a:p>
            <a:r>
              <a:rPr lang="en-US" altLang="zh-TW" dirty="0">
                <a:latin typeface="NimbusRomNo9L"/>
              </a:rPr>
              <a:t>the video-level loss, </a:t>
            </a:r>
            <a:r>
              <a:rPr lang="en-US" altLang="zh-TW" dirty="0"/>
              <a:t>where the y are video-level pretext labels </a:t>
            </a:r>
          </a:p>
          <a:p>
            <a:endParaRPr lang="en-US" altLang="zh-TW" dirty="0"/>
          </a:p>
        </p:txBody>
      </p:sp>
      <p:pic>
        <p:nvPicPr>
          <p:cNvPr id="11" name="圖片 10">
            <a:extLst>
              <a:ext uri="{FF2B5EF4-FFF2-40B4-BE49-F238E27FC236}">
                <a16:creationId xmlns:a16="http://schemas.microsoft.com/office/drawing/2014/main" id="{7127B6ED-C556-7B4C-98A8-DC6CF37BCCDD}"/>
              </a:ext>
            </a:extLst>
          </p:cNvPr>
          <p:cNvPicPr>
            <a:picLocks noChangeAspect="1"/>
          </p:cNvPicPr>
          <p:nvPr/>
        </p:nvPicPr>
        <p:blipFill>
          <a:blip r:embed="rId5"/>
          <a:stretch>
            <a:fillRect/>
          </a:stretch>
        </p:blipFill>
        <p:spPr>
          <a:xfrm>
            <a:off x="173436" y="5793228"/>
            <a:ext cx="3276600" cy="622300"/>
          </a:xfrm>
          <a:prstGeom prst="rect">
            <a:avLst/>
          </a:prstGeom>
        </p:spPr>
      </p:pic>
    </p:spTree>
    <p:extLst>
      <p:ext uri="{BB962C8B-B14F-4D97-AF65-F5344CB8AC3E}">
        <p14:creationId xmlns:p14="http://schemas.microsoft.com/office/powerpoint/2010/main" val="1740664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E8AF4E-00FC-8641-BCC6-40460101EEEA}"/>
              </a:ext>
            </a:extLst>
          </p:cNvPr>
          <p:cNvSpPr>
            <a:spLocks noGrp="1"/>
          </p:cNvSpPr>
          <p:nvPr>
            <p:ph type="title"/>
          </p:nvPr>
        </p:nvSpPr>
        <p:spPr>
          <a:xfrm>
            <a:off x="0" y="18255"/>
            <a:ext cx="10515600" cy="1325563"/>
          </a:xfrm>
        </p:spPr>
        <p:txBody>
          <a:bodyPr/>
          <a:lstStyle/>
          <a:p>
            <a:r>
              <a:rPr lang="en-US" altLang="zh-TW" dirty="0"/>
              <a:t>Learning shot-level invariances </a:t>
            </a:r>
            <a:br>
              <a:rPr lang="en-US" altLang="zh-TW" dirty="0"/>
            </a:br>
            <a:endParaRPr kumimoji="1" lang="zh-TW" altLang="en-US" dirty="0"/>
          </a:p>
        </p:txBody>
      </p:sp>
      <p:sp>
        <p:nvSpPr>
          <p:cNvPr id="4" name="矩形 3">
            <a:extLst>
              <a:ext uri="{FF2B5EF4-FFF2-40B4-BE49-F238E27FC236}">
                <a16:creationId xmlns:a16="http://schemas.microsoft.com/office/drawing/2014/main" id="{4107538E-C462-754F-8BAF-C732AEEAAA20}"/>
              </a:ext>
            </a:extLst>
          </p:cNvPr>
          <p:cNvSpPr/>
          <p:nvPr/>
        </p:nvSpPr>
        <p:spPr>
          <a:xfrm>
            <a:off x="0" y="843677"/>
            <a:ext cx="12192000" cy="1477328"/>
          </a:xfrm>
          <a:prstGeom prst="rect">
            <a:avLst/>
          </a:prstGeom>
        </p:spPr>
        <p:txBody>
          <a:bodyPr wrap="square">
            <a:spAutoFit/>
          </a:bodyPr>
          <a:lstStyle/>
          <a:p>
            <a:r>
              <a:rPr lang="en-US" altLang="zh-TW" dirty="0">
                <a:latin typeface="NimbusRomNo9L"/>
              </a:rPr>
              <a:t>For learning shot-induced invariances, one can take two approaches: </a:t>
            </a:r>
            <a:endParaRPr lang="en-US" altLang="zh-TW" dirty="0"/>
          </a:p>
          <a:p>
            <a:pPr marL="400050" indent="-400050">
              <a:buAutoNum type="romanLcParenBoth"/>
            </a:pPr>
            <a:r>
              <a:rPr lang="en-US" altLang="zh-TW" dirty="0">
                <a:latin typeface="NimbusRomNo9L"/>
              </a:rPr>
              <a:t> apply the image-based SSL loss independently to each frame so that the shot-induced invariances are learned implicitly through the combination of pooling function and video-level prediction task</a:t>
            </a:r>
            <a:endParaRPr lang="en-US" altLang="zh-TW" dirty="0"/>
          </a:p>
          <a:p>
            <a:pPr marL="400050" indent="-400050">
              <a:buAutoNum type="romanLcParenBoth"/>
            </a:pPr>
            <a:r>
              <a:rPr lang="en-US" altLang="zh-TW" dirty="0">
                <a:latin typeface="NimbusRomNo9L"/>
              </a:rPr>
              <a:t>  explicitly ensure that the embeddings of the frames from the same shot are similar by adding a triplet or a contrastive loss to the image-based SSL loss. </a:t>
            </a:r>
            <a:endParaRPr lang="en-US" altLang="zh-TW" dirty="0">
              <a:effectLst/>
            </a:endParaRPr>
          </a:p>
        </p:txBody>
      </p:sp>
      <p:sp>
        <p:nvSpPr>
          <p:cNvPr id="5" name="文字方塊 4">
            <a:extLst>
              <a:ext uri="{FF2B5EF4-FFF2-40B4-BE49-F238E27FC236}">
                <a16:creationId xmlns:a16="http://schemas.microsoft.com/office/drawing/2014/main" id="{57D13931-7438-6C48-9722-5A8A0DD3117A}"/>
              </a:ext>
            </a:extLst>
          </p:cNvPr>
          <p:cNvSpPr txBox="1"/>
          <p:nvPr/>
        </p:nvSpPr>
        <p:spPr>
          <a:xfrm>
            <a:off x="0" y="2782669"/>
            <a:ext cx="12017777" cy="2585323"/>
          </a:xfrm>
          <a:prstGeom prst="rect">
            <a:avLst/>
          </a:prstGeom>
          <a:noFill/>
        </p:spPr>
        <p:txBody>
          <a:bodyPr wrap="none" rtlCol="0">
            <a:spAutoFit/>
          </a:bodyPr>
          <a:lstStyle/>
          <a:p>
            <a:r>
              <a:rPr kumimoji="1" lang="en-US" altLang="zh-TW" dirty="0"/>
              <a:t>Solution:</a:t>
            </a:r>
          </a:p>
          <a:p>
            <a:pPr marL="400050" indent="-400050">
              <a:buAutoNum type="romanLcParenBoth"/>
            </a:pPr>
            <a:r>
              <a:rPr lang="en-US" altLang="zh-TW" dirty="0"/>
              <a:t>we consider SSL by rotation prediction without additional explicit shot-level loss. </a:t>
            </a:r>
          </a:p>
          <a:p>
            <a:pPr marL="400050" indent="-400050">
              <a:buFontTx/>
              <a:buAutoNum type="romanLcParenBoth"/>
            </a:pPr>
            <a:r>
              <a:rPr lang="en-US" altLang="zh-TW" dirty="0"/>
              <a:t>where each image is associated with a different class, and a feature extractor is trained to classify each image into its own </a:t>
            </a:r>
          </a:p>
          <a:p>
            <a:r>
              <a:rPr lang="en-US" altLang="zh-TW" dirty="0"/>
              <a:t>        class after heavily augmenting it (random cropping, rotation, contrast, and color shifts). we employ a triplet loss</a:t>
            </a:r>
          </a:p>
          <a:p>
            <a:r>
              <a:rPr lang="en-US" altLang="zh-TW" dirty="0"/>
              <a:t>        encouraging augmentations of the same image to be close and augmentations of different images to be far apart. </a:t>
            </a:r>
          </a:p>
          <a:p>
            <a:endParaRPr lang="en-US" altLang="zh-TW" dirty="0"/>
          </a:p>
          <a:p>
            <a:pPr marL="400050" indent="-400050">
              <a:buAutoNum type="romanLcParenBoth"/>
            </a:pPr>
            <a:endParaRPr lang="en-US" altLang="zh-TW" dirty="0"/>
          </a:p>
          <a:p>
            <a:endParaRPr kumimoji="1" lang="en-US" altLang="zh-TW" dirty="0"/>
          </a:p>
          <a:p>
            <a:endParaRPr kumimoji="1" lang="zh-TW" altLang="en-US" dirty="0"/>
          </a:p>
        </p:txBody>
      </p:sp>
    </p:spTree>
    <p:extLst>
      <p:ext uri="{BB962C8B-B14F-4D97-AF65-F5344CB8AC3E}">
        <p14:creationId xmlns:p14="http://schemas.microsoft.com/office/powerpoint/2010/main" val="3446816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5AEF8E-8756-2D43-BD01-1033FAFBF622}"/>
              </a:ext>
            </a:extLst>
          </p:cNvPr>
          <p:cNvSpPr>
            <a:spLocks noGrp="1"/>
          </p:cNvSpPr>
          <p:nvPr>
            <p:ph type="title"/>
          </p:nvPr>
        </p:nvSpPr>
        <p:spPr>
          <a:xfrm>
            <a:off x="0" y="18255"/>
            <a:ext cx="10515600" cy="1325563"/>
          </a:xfrm>
        </p:spPr>
        <p:txBody>
          <a:bodyPr/>
          <a:lstStyle/>
          <a:p>
            <a:r>
              <a:rPr lang="en-US" altLang="zh-TW" dirty="0"/>
              <a:t>Learning video-level invariances </a:t>
            </a:r>
            <a:br>
              <a:rPr lang="en-US" altLang="zh-TW" dirty="0"/>
            </a:br>
            <a:endParaRPr kumimoji="1" lang="zh-TW" altLang="en-US" dirty="0"/>
          </a:p>
        </p:txBody>
      </p:sp>
      <p:sp>
        <p:nvSpPr>
          <p:cNvPr id="4" name="矩形 3">
            <a:extLst>
              <a:ext uri="{FF2B5EF4-FFF2-40B4-BE49-F238E27FC236}">
                <a16:creationId xmlns:a16="http://schemas.microsoft.com/office/drawing/2014/main" id="{E827ACD3-D791-1440-99B2-286ECECF28B6}"/>
              </a:ext>
            </a:extLst>
          </p:cNvPr>
          <p:cNvSpPr/>
          <p:nvPr/>
        </p:nvSpPr>
        <p:spPr>
          <a:xfrm>
            <a:off x="0" y="1159152"/>
            <a:ext cx="2587888" cy="369332"/>
          </a:xfrm>
          <a:prstGeom prst="rect">
            <a:avLst/>
          </a:prstGeom>
        </p:spPr>
        <p:txBody>
          <a:bodyPr wrap="none">
            <a:spAutoFit/>
          </a:bodyPr>
          <a:lstStyle/>
          <a:p>
            <a:r>
              <a:rPr lang="en-US" altLang="zh-TW" dirty="0">
                <a:latin typeface="NimbusRomNo9L"/>
              </a:rPr>
              <a:t>For shot order prediction </a:t>
            </a:r>
            <a:endParaRPr lang="en-US" altLang="zh-TW" dirty="0"/>
          </a:p>
        </p:txBody>
      </p:sp>
      <p:sp>
        <p:nvSpPr>
          <p:cNvPr id="5" name="矩形 4">
            <a:extLst>
              <a:ext uri="{FF2B5EF4-FFF2-40B4-BE49-F238E27FC236}">
                <a16:creationId xmlns:a16="http://schemas.microsoft.com/office/drawing/2014/main" id="{C5CC3EA1-E118-3549-B959-A524A0FA7C93}"/>
              </a:ext>
            </a:extLst>
          </p:cNvPr>
          <p:cNvSpPr/>
          <p:nvPr/>
        </p:nvSpPr>
        <p:spPr>
          <a:xfrm>
            <a:off x="351098" y="1528484"/>
            <a:ext cx="11840901" cy="646331"/>
          </a:xfrm>
          <a:prstGeom prst="rect">
            <a:avLst/>
          </a:prstGeom>
        </p:spPr>
        <p:txBody>
          <a:bodyPr wrap="square">
            <a:spAutoFit/>
          </a:bodyPr>
          <a:lstStyle/>
          <a:p>
            <a:r>
              <a:rPr lang="en-US" altLang="zh-TW" dirty="0">
                <a:latin typeface="NimbusRomNo9L"/>
              </a:rPr>
              <a:t>randomly reverse the order of the shot embeddings and train a prediction function </a:t>
            </a:r>
            <a:r>
              <a:rPr lang="en-US" altLang="zh-TW" dirty="0">
                <a:latin typeface="CMMI10"/>
              </a:rPr>
              <a:t>g </a:t>
            </a:r>
            <a:r>
              <a:rPr lang="en-US" altLang="zh-TW" dirty="0">
                <a:latin typeface="NimbusRomNo9L"/>
              </a:rPr>
              <a:t>to predict the shot order from concatenated shot embeddings </a:t>
            </a:r>
            <a:endParaRPr lang="en-US" altLang="zh-TW" dirty="0"/>
          </a:p>
        </p:txBody>
      </p:sp>
      <p:sp>
        <p:nvSpPr>
          <p:cNvPr id="6" name="矩形 5">
            <a:extLst>
              <a:ext uri="{FF2B5EF4-FFF2-40B4-BE49-F238E27FC236}">
                <a16:creationId xmlns:a16="http://schemas.microsoft.com/office/drawing/2014/main" id="{B3D12798-AA17-C84B-BBAC-6C97B3608F5A}"/>
              </a:ext>
            </a:extLst>
          </p:cNvPr>
          <p:cNvSpPr/>
          <p:nvPr/>
        </p:nvSpPr>
        <p:spPr>
          <a:xfrm>
            <a:off x="351098" y="2174815"/>
            <a:ext cx="11663424" cy="369332"/>
          </a:xfrm>
          <a:prstGeom prst="rect">
            <a:avLst/>
          </a:prstGeom>
        </p:spPr>
        <p:txBody>
          <a:bodyPr wrap="square">
            <a:spAutoFit/>
          </a:bodyPr>
          <a:lstStyle/>
          <a:p>
            <a:r>
              <a:rPr lang="en-US" altLang="zh-TW" dirty="0">
                <a:latin typeface="CMMI10"/>
              </a:rPr>
              <a:t>L</a:t>
            </a:r>
            <a:r>
              <a:rPr lang="en-US" altLang="zh-TW" sz="800" dirty="0">
                <a:effectLst/>
                <a:latin typeface="NimbusRomNo9L"/>
              </a:rPr>
              <a:t>V </a:t>
            </a:r>
            <a:r>
              <a:rPr lang="en-US" altLang="zh-TW" dirty="0">
                <a:latin typeface="NimbusRomNo9L"/>
              </a:rPr>
              <a:t>in (</a:t>
            </a:r>
            <a:r>
              <a:rPr lang="en-US" altLang="zh-TW" dirty="0">
                <a:solidFill>
                  <a:srgbClr val="00007F"/>
                </a:solidFill>
                <a:latin typeface="NimbusRomNo9L"/>
              </a:rPr>
              <a:t>1</a:t>
            </a:r>
            <a:r>
              <a:rPr lang="en-US" altLang="zh-TW" dirty="0">
                <a:latin typeface="NimbusRomNo9L"/>
              </a:rPr>
              <a:t>) is the cross-entropy loss and </a:t>
            </a:r>
            <a:r>
              <a:rPr lang="en-US" altLang="zh-TW" dirty="0" err="1">
                <a:latin typeface="CMMI10"/>
              </a:rPr>
              <a:t>y</a:t>
            </a:r>
            <a:r>
              <a:rPr lang="en-US" altLang="zh-TW" sz="800" dirty="0" err="1">
                <a:effectLst/>
                <a:latin typeface="CMMI7"/>
              </a:rPr>
              <a:t>mi</a:t>
            </a:r>
            <a:r>
              <a:rPr lang="en-US" altLang="zh-TW" sz="800" dirty="0">
                <a:effectLst/>
                <a:latin typeface="CMMI7"/>
              </a:rPr>
              <a:t>  </a:t>
            </a:r>
            <a:r>
              <a:rPr lang="en-US" altLang="zh-TW" dirty="0">
                <a:latin typeface="NimbusRomNo9L"/>
              </a:rPr>
              <a:t>is </a:t>
            </a:r>
            <a:r>
              <a:rPr lang="en-US" altLang="zh-TW" dirty="0">
                <a:latin typeface="CMR10"/>
              </a:rPr>
              <a:t>1 </a:t>
            </a:r>
            <a:r>
              <a:rPr lang="en-US" altLang="zh-TW" dirty="0">
                <a:latin typeface="NimbusRomNo9L"/>
              </a:rPr>
              <a:t>if the sequence of shot embeddings is reversed and </a:t>
            </a:r>
            <a:r>
              <a:rPr lang="en-US" altLang="zh-TW" dirty="0">
                <a:latin typeface="CMR10"/>
              </a:rPr>
              <a:t>0 </a:t>
            </a:r>
            <a:r>
              <a:rPr lang="en-US" altLang="zh-TW" dirty="0">
                <a:latin typeface="NimbusRomNo9L"/>
              </a:rPr>
              <a:t>otherwise </a:t>
            </a:r>
            <a:endParaRPr lang="en-US" altLang="zh-TW" dirty="0"/>
          </a:p>
        </p:txBody>
      </p:sp>
      <p:sp>
        <p:nvSpPr>
          <p:cNvPr id="7" name="矩形 6">
            <a:extLst>
              <a:ext uri="{FF2B5EF4-FFF2-40B4-BE49-F238E27FC236}">
                <a16:creationId xmlns:a16="http://schemas.microsoft.com/office/drawing/2014/main" id="{993088E1-78B1-5243-A94E-E63B9F71B607}"/>
              </a:ext>
            </a:extLst>
          </p:cNvPr>
          <p:cNvSpPr/>
          <p:nvPr/>
        </p:nvSpPr>
        <p:spPr>
          <a:xfrm>
            <a:off x="0" y="2836143"/>
            <a:ext cx="3849580" cy="369332"/>
          </a:xfrm>
          <a:prstGeom prst="rect">
            <a:avLst/>
          </a:prstGeom>
        </p:spPr>
        <p:txBody>
          <a:bodyPr wrap="none">
            <a:spAutoFit/>
          </a:bodyPr>
          <a:lstStyle/>
          <a:p>
            <a:r>
              <a:rPr lang="en-US" altLang="zh-TW" dirty="0">
                <a:latin typeface="NimbusRomNo9L"/>
              </a:rPr>
              <a:t>For predicting future shot embeddings </a:t>
            </a:r>
            <a:endParaRPr lang="en-US" altLang="zh-TW" dirty="0"/>
          </a:p>
        </p:txBody>
      </p:sp>
      <p:sp>
        <p:nvSpPr>
          <p:cNvPr id="8" name="矩形 7">
            <a:extLst>
              <a:ext uri="{FF2B5EF4-FFF2-40B4-BE49-F238E27FC236}">
                <a16:creationId xmlns:a16="http://schemas.microsoft.com/office/drawing/2014/main" id="{FC609A0C-68ED-A04D-A9C5-4ECBC7B405E4}"/>
              </a:ext>
            </a:extLst>
          </p:cNvPr>
          <p:cNvSpPr/>
          <p:nvPr/>
        </p:nvSpPr>
        <p:spPr>
          <a:xfrm>
            <a:off x="351098" y="3205475"/>
            <a:ext cx="2896306" cy="369332"/>
          </a:xfrm>
          <a:prstGeom prst="rect">
            <a:avLst/>
          </a:prstGeom>
        </p:spPr>
        <p:txBody>
          <a:bodyPr wrap="none">
            <a:spAutoFit/>
          </a:bodyPr>
          <a:lstStyle/>
          <a:p>
            <a:r>
              <a:rPr lang="en-US" altLang="zh-TW" dirty="0">
                <a:latin typeface="NimbusRomNo9L"/>
              </a:rPr>
              <a:t>noise-contrastive estimation </a:t>
            </a:r>
            <a:endParaRPr lang="en-US" altLang="zh-TW" dirty="0"/>
          </a:p>
        </p:txBody>
      </p:sp>
      <p:pic>
        <p:nvPicPr>
          <p:cNvPr id="10" name="圖片 9">
            <a:extLst>
              <a:ext uri="{FF2B5EF4-FFF2-40B4-BE49-F238E27FC236}">
                <a16:creationId xmlns:a16="http://schemas.microsoft.com/office/drawing/2014/main" id="{6876D418-57E4-E94B-B1D3-6E08472DCD26}"/>
              </a:ext>
            </a:extLst>
          </p:cNvPr>
          <p:cNvPicPr>
            <a:picLocks noChangeAspect="1"/>
          </p:cNvPicPr>
          <p:nvPr/>
        </p:nvPicPr>
        <p:blipFill>
          <a:blip r:embed="rId2"/>
          <a:stretch>
            <a:fillRect/>
          </a:stretch>
        </p:blipFill>
        <p:spPr>
          <a:xfrm>
            <a:off x="351098" y="3542000"/>
            <a:ext cx="3733800" cy="838200"/>
          </a:xfrm>
          <a:prstGeom prst="rect">
            <a:avLst/>
          </a:prstGeom>
        </p:spPr>
      </p:pic>
    </p:spTree>
    <p:extLst>
      <p:ext uri="{BB962C8B-B14F-4D97-AF65-F5344CB8AC3E}">
        <p14:creationId xmlns:p14="http://schemas.microsoft.com/office/powerpoint/2010/main" val="4151109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680B30-F70D-2048-9D8A-80C145381279}"/>
              </a:ext>
            </a:extLst>
          </p:cNvPr>
          <p:cNvSpPr>
            <a:spLocks noGrp="1"/>
          </p:cNvSpPr>
          <p:nvPr>
            <p:ph type="title"/>
          </p:nvPr>
        </p:nvSpPr>
        <p:spPr>
          <a:xfrm>
            <a:off x="0" y="18255"/>
            <a:ext cx="10515600" cy="1325563"/>
          </a:xfrm>
        </p:spPr>
        <p:txBody>
          <a:bodyPr/>
          <a:lstStyle/>
          <a:p>
            <a:r>
              <a:rPr lang="en-US" altLang="zh-TW" dirty="0"/>
              <a:t>Co-training with ImageNet </a:t>
            </a:r>
            <a:br>
              <a:rPr lang="en-US" altLang="zh-TW" dirty="0"/>
            </a:br>
            <a:endParaRPr kumimoji="1" lang="zh-TW" altLang="en-US" dirty="0"/>
          </a:p>
        </p:txBody>
      </p:sp>
      <p:sp>
        <p:nvSpPr>
          <p:cNvPr id="4" name="矩形 3">
            <a:extLst>
              <a:ext uri="{FF2B5EF4-FFF2-40B4-BE49-F238E27FC236}">
                <a16:creationId xmlns:a16="http://schemas.microsoft.com/office/drawing/2014/main" id="{116ECB35-CCC1-4141-BBFA-197BE46D910B}"/>
              </a:ext>
            </a:extLst>
          </p:cNvPr>
          <p:cNvSpPr/>
          <p:nvPr/>
        </p:nvSpPr>
        <p:spPr>
          <a:xfrm>
            <a:off x="0" y="895071"/>
            <a:ext cx="11181144" cy="369332"/>
          </a:xfrm>
          <a:prstGeom prst="rect">
            <a:avLst/>
          </a:prstGeom>
        </p:spPr>
        <p:txBody>
          <a:bodyPr wrap="square">
            <a:spAutoFit/>
          </a:bodyPr>
          <a:lstStyle/>
          <a:p>
            <a:r>
              <a:rPr lang="en-US" altLang="zh-TW" dirty="0">
                <a:latin typeface="NimbusRomNo9L"/>
              </a:rPr>
              <a:t>Combining image- based SSL losses with a supervised loss applied to a subset of the images </a:t>
            </a:r>
            <a:endParaRPr lang="en-US" altLang="zh-TW" dirty="0"/>
          </a:p>
        </p:txBody>
      </p:sp>
      <p:sp>
        <p:nvSpPr>
          <p:cNvPr id="5" name="矩形 4">
            <a:extLst>
              <a:ext uri="{FF2B5EF4-FFF2-40B4-BE49-F238E27FC236}">
                <a16:creationId xmlns:a16="http://schemas.microsoft.com/office/drawing/2014/main" id="{68D1B880-6C33-854C-97CB-C3B9F8884DA1}"/>
              </a:ext>
            </a:extLst>
          </p:cNvPr>
          <p:cNvSpPr/>
          <p:nvPr/>
        </p:nvSpPr>
        <p:spPr>
          <a:xfrm>
            <a:off x="0" y="1343818"/>
            <a:ext cx="12192000" cy="646331"/>
          </a:xfrm>
          <a:prstGeom prst="rect">
            <a:avLst/>
          </a:prstGeom>
        </p:spPr>
        <p:txBody>
          <a:bodyPr wrap="square">
            <a:spAutoFit/>
          </a:bodyPr>
          <a:lstStyle/>
          <a:p>
            <a:r>
              <a:rPr lang="en-US" altLang="zh-TW" dirty="0">
                <a:latin typeface="NimbusRomNo9L"/>
              </a:rPr>
              <a:t>we additionally apply </a:t>
            </a:r>
            <a:r>
              <a:rPr lang="en-US" altLang="zh-TW" dirty="0">
                <a:latin typeface="CMMI10"/>
              </a:rPr>
              <a:t>f </a:t>
            </a:r>
            <a:r>
              <a:rPr lang="en-US" altLang="zh-TW" dirty="0">
                <a:latin typeface="NimbusRomNo9L"/>
              </a:rPr>
              <a:t>followed by a linear classifier to mini-batches of labeled images and compute the cross-entropy loss </a:t>
            </a:r>
            <a:r>
              <a:rPr lang="en-US" altLang="zh-TW" dirty="0">
                <a:latin typeface="CMSY10"/>
              </a:rPr>
              <a:t>L</a:t>
            </a:r>
            <a:r>
              <a:rPr lang="en-US" altLang="zh-TW" sz="800" dirty="0">
                <a:effectLst/>
                <a:latin typeface="NimbusRomNo9L"/>
              </a:rPr>
              <a:t>SUP </a:t>
            </a:r>
            <a:r>
              <a:rPr lang="en-US" altLang="zh-TW" dirty="0">
                <a:latin typeface="NimbusRomNo9L"/>
              </a:rPr>
              <a:t>between the predictions and the image labels. The total loss is then computed as </a:t>
            </a:r>
            <a:r>
              <a:rPr lang="en-US" altLang="zh-TW" dirty="0">
                <a:latin typeface="CMSY10"/>
              </a:rPr>
              <a:t>L</a:t>
            </a:r>
            <a:r>
              <a:rPr lang="en-US" altLang="zh-TW" sz="800" dirty="0">
                <a:effectLst/>
                <a:latin typeface="NimbusRomNo9L"/>
              </a:rPr>
              <a:t>SSL </a:t>
            </a:r>
            <a:r>
              <a:rPr lang="en-US" altLang="zh-TW" dirty="0">
                <a:latin typeface="CMR10"/>
              </a:rPr>
              <a:t>+ </a:t>
            </a:r>
            <a:r>
              <a:rPr lang="el-GR" altLang="zh-TW" dirty="0">
                <a:latin typeface="CMMI10"/>
              </a:rPr>
              <a:t>γ</a:t>
            </a:r>
            <a:r>
              <a:rPr lang="en-US" altLang="zh-TW" dirty="0">
                <a:latin typeface="CMSY10"/>
              </a:rPr>
              <a:t>L</a:t>
            </a:r>
            <a:r>
              <a:rPr lang="en-US" altLang="zh-TW" sz="800" dirty="0">
                <a:effectLst/>
                <a:latin typeface="NimbusRomNo9L"/>
              </a:rPr>
              <a:t>SUP </a:t>
            </a:r>
            <a:endParaRPr lang="en-US" altLang="zh-TW" dirty="0"/>
          </a:p>
        </p:txBody>
      </p:sp>
      <p:sp>
        <p:nvSpPr>
          <p:cNvPr id="6" name="標題 1">
            <a:extLst>
              <a:ext uri="{FF2B5EF4-FFF2-40B4-BE49-F238E27FC236}">
                <a16:creationId xmlns:a16="http://schemas.microsoft.com/office/drawing/2014/main" id="{6BB60C74-C54E-094E-83FB-78AD6DB5FB76}"/>
              </a:ext>
            </a:extLst>
          </p:cNvPr>
          <p:cNvSpPr txBox="1">
            <a:spLocks/>
          </p:cNvSpPr>
          <p:nvPr/>
        </p:nvSpPr>
        <p:spPr>
          <a:xfrm>
            <a:off x="0" y="22523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Result</a:t>
            </a:r>
            <a:br>
              <a:rPr lang="en-US" altLang="zh-TW" dirty="0"/>
            </a:br>
            <a:endParaRPr kumimoji="1" lang="zh-TW" altLang="en-US" dirty="0"/>
          </a:p>
        </p:txBody>
      </p:sp>
      <p:pic>
        <p:nvPicPr>
          <p:cNvPr id="7" name="圖片 6">
            <a:extLst>
              <a:ext uri="{FF2B5EF4-FFF2-40B4-BE49-F238E27FC236}">
                <a16:creationId xmlns:a16="http://schemas.microsoft.com/office/drawing/2014/main" id="{837168CD-DC69-FF44-814E-877F910C403E}"/>
              </a:ext>
            </a:extLst>
          </p:cNvPr>
          <p:cNvPicPr>
            <a:picLocks noChangeAspect="1"/>
          </p:cNvPicPr>
          <p:nvPr/>
        </p:nvPicPr>
        <p:blipFill>
          <a:blip r:embed="rId2"/>
          <a:stretch>
            <a:fillRect/>
          </a:stretch>
        </p:blipFill>
        <p:spPr>
          <a:xfrm>
            <a:off x="301022" y="2915174"/>
            <a:ext cx="10579100" cy="3314700"/>
          </a:xfrm>
          <a:prstGeom prst="rect">
            <a:avLst/>
          </a:prstGeom>
        </p:spPr>
      </p:pic>
    </p:spTree>
    <p:extLst>
      <p:ext uri="{BB962C8B-B14F-4D97-AF65-F5344CB8AC3E}">
        <p14:creationId xmlns:p14="http://schemas.microsoft.com/office/powerpoint/2010/main" val="388995256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TotalTime>
  <Words>992</Words>
  <Application>Microsoft Macintosh PowerPoint</Application>
  <PresentationFormat>寬螢幕</PresentationFormat>
  <Paragraphs>112</Paragraphs>
  <Slides>19</Slides>
  <Notes>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19</vt:i4>
      </vt:variant>
    </vt:vector>
  </HeadingPairs>
  <TitlesOfParts>
    <vt:vector size="29" baseType="lpstr">
      <vt:lpstr>CMMI10</vt:lpstr>
      <vt:lpstr>CMMI7</vt:lpstr>
      <vt:lpstr>CMR10</vt:lpstr>
      <vt:lpstr>CMSY10</vt:lpstr>
      <vt:lpstr>NimbusRomNo9L</vt:lpstr>
      <vt:lpstr>Open Sans</vt:lpstr>
      <vt:lpstr>Arial</vt:lpstr>
      <vt:lpstr>Calibri</vt:lpstr>
      <vt:lpstr>Calibri Light</vt:lpstr>
      <vt:lpstr>Office 佈景主題</vt:lpstr>
      <vt:lpstr>PowerPoint 簡報</vt:lpstr>
      <vt:lpstr>Adversarial self-supervised learning for semi-supervised 3D action recognition</vt:lpstr>
      <vt:lpstr>Model Architecture</vt:lpstr>
      <vt:lpstr>Self-Supervised</vt:lpstr>
      <vt:lpstr>Self-Supervised</vt:lpstr>
      <vt:lpstr>Semi-Supervised</vt:lpstr>
      <vt:lpstr>Adversarial Learning for Aligning Self-Supervised and Semi-Supervised Representations </vt:lpstr>
      <vt:lpstr>Result</vt:lpstr>
      <vt:lpstr>From Image Collections to Point Clouds with Self-supervised Shape and Pose Networks</vt:lpstr>
      <vt:lpstr>Model Architecture</vt:lpstr>
      <vt:lpstr>PowerPoint 簡報</vt:lpstr>
      <vt:lpstr>PowerPoint 簡報</vt:lpstr>
      <vt:lpstr>PowerPoint 簡報</vt:lpstr>
      <vt:lpstr>Result</vt:lpstr>
      <vt:lpstr>Self-Supervised Learning of Video-Induced Visual Invariances</vt:lpstr>
      <vt:lpstr>Overview</vt:lpstr>
      <vt:lpstr>Learning shot-level invariances  </vt:lpstr>
      <vt:lpstr>Learning video-level invariances  </vt:lpstr>
      <vt:lpstr>Co-training with ImageNet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User</dc:creator>
  <cp:lastModifiedBy>Microsoft Office User</cp:lastModifiedBy>
  <cp:revision>1</cp:revision>
  <dcterms:created xsi:type="dcterms:W3CDTF">2020-08-01T03:08:18Z</dcterms:created>
  <dcterms:modified xsi:type="dcterms:W3CDTF">2020-08-01T06:40:45Z</dcterms:modified>
</cp:coreProperties>
</file>